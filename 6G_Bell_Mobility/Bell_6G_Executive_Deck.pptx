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warmly. Acknowledge thesis directors. Frame this clearly: this is not an academic talk. It is fifteen minutes on three practical tools that map to Bell Mobility priorities — energy, carbon, and safer autonomous operations. Polytechnique Montréal and the LARIM laboratory bring the research depth; the goal today is to show practical fit for Bell.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90 seconds. Read the four cards in plain language. Avoid acronyms. Emphasize that the three tools at the bottom are mapped to those four constraints. The rest of the deck just unpacks each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point of this slide is to recognize Bell’s leadership. The thesis does not compete with these investments — it extends them. After this, we name what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Each gap is also an opportunity. Mention that TELUS already markets an AI radio controller in public — the competitive clock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Use this slide as the mental map. Each of the next three slides goes one layer at a time. Devices, routing, safety —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Frame GAPF as the device layer. Stress fewer truck rolls and longer battery life — these are real operating costs. Mention rural/Indigenous fit. Note that numbers come from PhD experiments and would be re-validated on Bell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strongest immediate fit. Tie directly to the supply-chain carbon point made on slide 2. Note BCE = Bell’s parent company in plain English if you sense unfamiliar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Use the words “safety layer” not “zero-trust framework”. Emphasize zero false alarms — operators care more about availability than detection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key message: this is not a 2030 problem. Each tool can be tested on what Bell already runs, and the results will carry forward into 6G as standards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De-risk the ask. 90 days is cheap and proves the science. Six months proves the pilot. Twelve to eighteen becomes a real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The lead recommendation is CALASH first because it closes the most visible reporting gap. The dark bottom strip carries the explicit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State the one-sentence claim clearly, then stop. Invite the workshop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pfo-www.bce.ca/responsibility/overview/2024-bce-climate-action-report.pdf" TargetMode="External"/><Relationship Id="rId3" Type="http://schemas.openxmlformats.org/officeDocument/2006/relationships/hyperlink" Target="https://www.o-ran.org/blog/o-ran-alliance-security-update-2025" TargetMode="External"/><Relationship Id="rId4" Type="http://schemas.openxmlformats.org/officeDocument/2006/relationships/hyperlink" Target="https://www.canada.ca/en/radio-television-telecommunications/news/2026/03/crtc-making-it-easier-to-connect-indigenous-communities-to-high-speed-internet-and-cellphone-services.html" TargetMode="External"/><Relationship Id="rId1" Type="http://schemas.openxmlformats.org/officeDocument/2006/relationships/image" Target="../media/image-2-1.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bce.ca/news-and-media/newsroom?article=bell-introduces-5g-advanced-its-fastest-and-most-advanced-network-yet" TargetMode="External"/><Relationship Id="rId3" Type="http://schemas.openxmlformats.org/officeDocument/2006/relationships/hyperlink" Target="https://www.ericsson.com/en/press-releases/6/2025/ericsson-and-bell-canada-successfully-test-ai-native-link-adaptation-to-boost-network-speed-and-efficiency" TargetMode="External"/><Relationship Id="rId4" Type="http://schemas.openxmlformats.org/officeDocument/2006/relationships/hyperlink" Target="https://www.nokia.com/newsroom/bell-canada-and-nokia-expand-5g-partnership-to-accelerate-innovation-with-cloud-and-open-ran-deployment-mwc25/" TargetMode="External"/><Relationship Id="rId5" Type="http://schemas.openxmlformats.org/officeDocument/2006/relationships/hyperlink" Target="https://explore.business.bell.ca/news-and-events/increasing-sovereign-ai-capacity-introducing-bell-ai-fabric" TargetMode="External"/><Relationship Id="rId6" Type="http://schemas.openxmlformats.org/officeDocument/2006/relationships/hyperlink" Target="https://explore.business.bell.ca/mobility-spotlight/direct-to-cell-major-milestone-canadian-connectivity" TargetMode="External"/><Relationship Id="rId7" Type="http://schemas.openxmlformats.org/officeDocument/2006/relationships/hyperlink" Target="https://pfo-www.bce.ca/responsibility/overview/2024-bce-climate-action-report.pdf" TargetMode="External"/><Relationship Id="rId1" Type="http://schemas.openxmlformats.org/officeDocument/2006/relationships/image" Target="../media/image-3-1.jp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prd-www.bce.ca/investors/AR-2024/2024-bce-annual-financial-report.pdf" TargetMode="External"/><Relationship Id="rId3" Type="http://schemas.openxmlformats.org/officeDocument/2006/relationships/hyperlink" Target="https://www.o-ran.org/blog/o-ran-alliance-security-update-2025" TargetMode="External"/><Relationship Id="rId4" Type="http://schemas.openxmlformats.org/officeDocument/2006/relationships/hyperlink" Target="https://www.canada.ca/en/radio-television-telecommunications/news/2026/03/crtc-making-it-easier-to-connect-indigenous-communities-to-high-speed-internet-and-cellphone-services.html" TargetMode="External"/><Relationship Id="rId5" Type="http://schemas.openxmlformats.org/officeDocument/2006/relationships/hyperlink" Target="https://news.samsung.com/global/samsung-and-telus-collaborate-on-canadas-first-ai-powered-ran-intelligent-controller-to-optimize-network-performance-and-energy-efficiency" TargetMode="External"/><Relationship Id="rId6" Type="http://schemas.openxmlformats.org/officeDocument/2006/relationships/hyperlink" Target="https://www.dentonsdata.com/from-bill-c-26-to-bill-c-8-house-of-commons-reintroduces-key-cybersecurity-legislation/" TargetMode="External"/><Relationship Id="rId1" Type="http://schemas.openxmlformats.org/officeDocument/2006/relationships/image" Target="../media/image-4-1.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xplore.business.bell.ca/learning-resources/modernizing-iot-how-evolving-mobile-networks-unlock-new-business-potential" TargetMode="External"/><Relationship Id="rId3" Type="http://schemas.openxmlformats.org/officeDocument/2006/relationships/hyperlink" Target="https://www.canada.ca/en/radio-television-telecommunications/news/2026/03/crtc-making-it-easier-to-connect-indigenous-communities-to-high-speed-internet-and-cellphone-services.html" TargetMode="External"/><Relationship Id="rId1" Type="http://schemas.openxmlformats.org/officeDocument/2006/relationships/image" Target="../media/image-6-1.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pfo-www.bce.ca/responsibility/overview/2024-bce-climate-action-report.pdf" TargetMode="External"/><Relationship Id="rId3" Type="http://schemas.openxmlformats.org/officeDocument/2006/relationships/hyperlink" Target="https://prd-www.bce.ca/investors/AR-2024/2024-bce-annual-financial-report.pdf" TargetMode="External"/><Relationship Id="rId1" Type="http://schemas.openxmlformats.org/officeDocument/2006/relationships/image" Target="../media/image-7-1.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o-ran.org/blog/o-ran-alliance-security-update-2025" TargetMode="External"/><Relationship Id="rId3" Type="http://schemas.openxmlformats.org/officeDocument/2006/relationships/hyperlink" Target="https://rimedolabs.com/blog/o-ran-near-real-time-ric/" TargetMode="External"/><Relationship Id="rId4" Type="http://schemas.openxmlformats.org/officeDocument/2006/relationships/hyperlink" Target="https://www.dentonsdata.com/from-bill-c-26-to-bill-c-8-house-of-commons-reintroduces-key-cybersecurity-legislation/" TargetMode="External"/><Relationship Id="rId1" Type="http://schemas.openxmlformats.org/officeDocument/2006/relationships/image" Target="../media/image-8-1.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explore.business.bell.ca/learning-resources/modernizing-iot-how-evolving-mobile-networks-unlock-new-business-potential" TargetMode="External"/><Relationship Id="rId3" Type="http://schemas.openxmlformats.org/officeDocument/2006/relationships/hyperlink" Target="https://www.nokia.com/newsroom/bell-canada-and-nokia-expand-5g-partnership-to-accelerate-innovation-with-cloud-and-open-ran-deployment-mwc25/" TargetMode="External"/><Relationship Id="rId4" Type="http://schemas.openxmlformats.org/officeDocument/2006/relationships/hyperlink" Target="https://explore.business.bell.ca/news-and-events/increasing-sovereign-ai-capacity-introducing-bell-ai-fabric" TargetMode="External"/><Relationship Id="rId1" Type="http://schemas.openxmlformats.org/officeDocument/2006/relationships/image" Target="../media/image-9-1.jp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nokia.com/newsroom/bell-canada-and-nokia-expand-5g-partnership-to-accelerate-innovation-with-cloud-and-open-ran-deployment-mwc25/" TargetMode="External"/><Relationship Id="rId3" Type="http://schemas.openxmlformats.org/officeDocument/2006/relationships/hyperlink" Target="https://www.o-ran.org/blog/o-ran-alliance-security-update-2025" TargetMode="External"/><Relationship Id="rId1" Type="http://schemas.openxmlformats.org/officeDocument/2006/relationships/image" Target="../media/image-10-1.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pfo-www.bce.ca/responsibility/overview/2024-bce-climate-action-report.pdf" TargetMode="External"/><Relationship Id="rId3" Type="http://schemas.openxmlformats.org/officeDocument/2006/relationships/hyperlink" Target="https://www.o-ran.org/blog/o-ran-alliance-security-update-2025" TargetMode="External"/><Relationship Id="rId1" Type="http://schemas.openxmlformats.org/officeDocument/2006/relationships/image" Target="../media/image-11-1.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hyperlink" Target="https://www.bce.ca/news-and-media/newsroom?article=bell-introduces-5g-advanced-its-fastest-and-most-advanced-network-yet" TargetMode="External"/><Relationship Id="rId5" Type="http://schemas.openxmlformats.org/officeDocument/2006/relationships/hyperlink" Target="https://www.ericsson.com/en/press-releases/6/2025/ericsson-and-bell-canada-successfully-test-ai-native-link-adaptation-to-boost-network-speed-and-efficiency" TargetMode="External"/><Relationship Id="rId6" Type="http://schemas.openxmlformats.org/officeDocument/2006/relationships/hyperlink" Target="https://www.nokia.com/newsroom/bell-canada-and-nokia-expand-5g-partnership-to-accelerate-innovation-with-cloud-and-open-ran-deployment-mwc25/" TargetMode="External"/><Relationship Id="rId7" Type="http://schemas.openxmlformats.org/officeDocument/2006/relationships/hyperlink" Target="https://pfo-www.bce.ca/responsibility/overview/2024-bce-climate-action-report.pdf" TargetMode="External"/><Relationship Id="rId8" Type="http://schemas.openxmlformats.org/officeDocument/2006/relationships/hyperlink" Target="https://www.o-ran.org/blog/o-ran-alliance-security-update-2025" TargetMode="External"/><Relationship Id="rId9" Type="http://schemas.openxmlformats.org/officeDocument/2006/relationships/hyperlink" Target="https://www.canada.ca/en/radio-television-telecommunications/news/2026/03/crtc-making-it-easier-to-connect-indigenous-communities-to-high-speed-internet-and-cellphone-services.html" TargetMode="External"/><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1.jp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0B2545"/>
          </a:solidFill>
          <a:ln w="12700">
            <a:solidFill>
              <a:srgbClr val="0B2545"/>
            </a:solidFill>
            <a:prstDash val="solid"/>
          </a:ln>
        </p:spPr>
      </p:sp>
      <p:sp>
        <p:nvSpPr>
          <p:cNvPr id="3" name="Shape 1"/>
          <p:cNvSpPr/>
          <p:nvPr/>
        </p:nvSpPr>
        <p:spPr>
          <a:xfrm>
            <a:off x="548640" y="731520"/>
            <a:ext cx="457200" cy="54864"/>
          </a:xfrm>
          <a:prstGeom prst="rect">
            <a:avLst/>
          </a:prstGeom>
          <a:solidFill>
            <a:srgbClr val="1B9AAA"/>
          </a:solidFill>
          <a:ln w="12700">
            <a:solidFill>
              <a:srgbClr val="1B9AAA"/>
            </a:solidFill>
            <a:prstDash val="solid"/>
          </a:ln>
        </p:spPr>
      </p:sp>
      <p:sp>
        <p:nvSpPr>
          <p:cNvPr id="4" name="Text 2"/>
          <p:cNvSpPr/>
          <p:nvPr/>
        </p:nvSpPr>
        <p:spPr>
          <a:xfrm>
            <a:off x="548640" y="914400"/>
            <a:ext cx="3017520" cy="1554480"/>
          </a:xfrm>
          <a:prstGeom prst="rect">
            <a:avLst/>
          </a:prstGeom>
          <a:noFill/>
          <a:ln/>
        </p:spPr>
        <p:txBody>
          <a:bodyPr wrap="square" rtlCol="0" anchor="ctr"/>
          <a:lstStyle/>
          <a:p>
            <a:pPr indent="0" marL="0">
              <a:lnSpc>
                <a:spcPct val="115000"/>
              </a:lnSpc>
              <a:buNone/>
            </a:pPr>
            <a:r>
              <a:rPr lang="en-US" sz="2200" b="1" spc="200" kern="0" dirty="0">
                <a:solidFill>
                  <a:srgbClr val="FFFFFF"/>
                </a:solidFill>
                <a:latin typeface="Trebuchet MS" pitchFamily="34" charset="0"/>
                <a:ea typeface="Trebuchet MS" pitchFamily="34" charset="-122"/>
                <a:cs typeface="Trebuchet MS" pitchFamily="34" charset="-120"/>
              </a:rPr>
              <a:t>BELL 6G</a:t>
            </a:r>
            <a:endParaRPr lang="en-US" sz="2200" dirty="0"/>
          </a:p>
          <a:p>
            <a:pPr indent="0" marL="0">
              <a:lnSpc>
                <a:spcPct val="115000"/>
              </a:lnSpc>
              <a:buNone/>
            </a:pPr>
            <a:r>
              <a:rPr lang="en-US" sz="2200" b="1" spc="200" kern="0" dirty="0">
                <a:solidFill>
                  <a:srgbClr val="FFFFFF"/>
                </a:solidFill>
                <a:latin typeface="Trebuchet MS" pitchFamily="34" charset="0"/>
                <a:ea typeface="Trebuchet MS" pitchFamily="34" charset="-122"/>
                <a:cs typeface="Trebuchet MS" pitchFamily="34" charset="-120"/>
              </a:rPr>
              <a:t>EXECUTIVE</a:t>
            </a:r>
            <a:endParaRPr lang="en-US" sz="2200" dirty="0"/>
          </a:p>
          <a:p>
            <a:pPr indent="0" marL="0">
              <a:lnSpc>
                <a:spcPct val="115000"/>
              </a:lnSpc>
              <a:buNone/>
            </a:pPr>
            <a:r>
              <a:rPr lang="en-US" sz="2200" b="1" spc="200" kern="0" dirty="0">
                <a:solidFill>
                  <a:srgbClr val="FFFFFF"/>
                </a:solidFill>
                <a:latin typeface="Trebuchet MS" pitchFamily="34" charset="0"/>
                <a:ea typeface="Trebuchet MS" pitchFamily="34" charset="-122"/>
                <a:cs typeface="Trebuchet MS" pitchFamily="34" charset="-120"/>
              </a:rPr>
              <a:t>BRIEFING</a:t>
            </a:r>
            <a:endParaRPr lang="en-US" sz="2200" dirty="0"/>
          </a:p>
        </p:txBody>
      </p:sp>
      <p:sp>
        <p:nvSpPr>
          <p:cNvPr id="5" name="Text 3"/>
          <p:cNvSpPr/>
          <p:nvPr/>
        </p:nvSpPr>
        <p:spPr>
          <a:xfrm>
            <a:off x="548640" y="2560320"/>
            <a:ext cx="3017520" cy="274320"/>
          </a:xfrm>
          <a:prstGeom prst="rect">
            <a:avLst/>
          </a:prstGeom>
          <a:noFill/>
          <a:ln/>
        </p:spPr>
        <p:txBody>
          <a:bodyPr wrap="square" rtlCol="0" anchor="ctr"/>
          <a:lstStyle/>
          <a:p>
            <a:pPr indent="0" marL="0">
              <a:buNone/>
            </a:pPr>
            <a:r>
              <a:rPr lang="en-US" sz="1300" spc="100" kern="0" dirty="0">
                <a:solidFill>
                  <a:srgbClr val="D6EEF2"/>
                </a:solidFill>
                <a:latin typeface="Calibri" pitchFamily="34" charset="0"/>
                <a:ea typeface="Calibri" pitchFamily="34" charset="-122"/>
                <a:cs typeface="Calibri" pitchFamily="34" charset="-120"/>
              </a:rPr>
              <a:t>15 minutes</a:t>
            </a:r>
            <a:endParaRPr lang="en-US" sz="1300" dirty="0"/>
          </a:p>
        </p:txBody>
      </p:sp>
      <p:sp>
        <p:nvSpPr>
          <p:cNvPr id="6" name="Text 4"/>
          <p:cNvSpPr/>
          <p:nvPr/>
        </p:nvSpPr>
        <p:spPr>
          <a:xfrm>
            <a:off x="548640" y="4754880"/>
            <a:ext cx="3017520" cy="228600"/>
          </a:xfrm>
          <a:prstGeom prst="rect">
            <a:avLst/>
          </a:prstGeom>
          <a:noFill/>
          <a:ln/>
        </p:spPr>
        <p:txBody>
          <a:bodyPr wrap="square" rtlCol="0" anchor="ctr"/>
          <a:lstStyle/>
          <a:p>
            <a:pPr indent="0" marL="0">
              <a:buNone/>
            </a:pPr>
            <a:r>
              <a:rPr lang="en-US" sz="1000" spc="100" kern="0" dirty="0">
                <a:solidFill>
                  <a:srgbClr val="D6EEF2"/>
                </a:solidFill>
                <a:latin typeface="Calibri" pitchFamily="34" charset="0"/>
                <a:ea typeface="Calibri" pitchFamily="34" charset="-122"/>
                <a:cs typeface="Calibri" pitchFamily="34" charset="-120"/>
              </a:rPr>
              <a:t>Presented by</a:t>
            </a:r>
            <a:endParaRPr lang="en-US" sz="1000" dirty="0"/>
          </a:p>
        </p:txBody>
      </p:sp>
      <p:sp>
        <p:nvSpPr>
          <p:cNvPr id="7" name="Shape 5"/>
          <p:cNvSpPr/>
          <p:nvPr/>
        </p:nvSpPr>
        <p:spPr>
          <a:xfrm>
            <a:off x="548640" y="5029200"/>
            <a:ext cx="3017520" cy="1371600"/>
          </a:xfrm>
          <a:prstGeom prst="rect">
            <a:avLst/>
          </a:prstGeom>
          <a:solidFill>
            <a:srgbClr val="FFFFFF"/>
          </a:solidFill>
          <a:ln w="12700">
            <a:solidFill>
              <a:srgbClr val="FFFFFF"/>
            </a:solidFill>
            <a:prstDash val="solid"/>
          </a:ln>
        </p:spPr>
      </p:sp>
      <p:pic>
        <p:nvPicPr>
          <p:cNvPr id="8" name="Image 0" descr="/home/user/workspace/Polytechnique_Montreal_Logo.jpg">    </p:cNvPr>
          <p:cNvPicPr>
            <a:picLocks noChangeAspect="1"/>
          </p:cNvPicPr>
          <p:nvPr/>
        </p:nvPicPr>
        <p:blipFill>
          <a:blip r:embed="rId1"/>
          <a:stretch>
            <a:fillRect/>
          </a:stretch>
        </p:blipFill>
        <p:spPr>
          <a:xfrm>
            <a:off x="685800" y="5120640"/>
            <a:ext cx="1645920" cy="1088136"/>
          </a:xfrm>
          <a:prstGeom prst="rect">
            <a:avLst/>
          </a:prstGeom>
        </p:spPr>
      </p:pic>
      <p:pic>
        <p:nvPicPr>
          <p:cNvPr id="9" name="Image 1" descr="/home/user/workspace/Larim_logo.jpg">    </p:cNvPr>
          <p:cNvPicPr>
            <a:picLocks noChangeAspect="1"/>
          </p:cNvPicPr>
          <p:nvPr/>
        </p:nvPicPr>
        <p:blipFill>
          <a:blip r:embed="rId2"/>
          <a:stretch>
            <a:fillRect/>
          </a:stretch>
        </p:blipFill>
        <p:spPr>
          <a:xfrm>
            <a:off x="2331720" y="5303520"/>
            <a:ext cx="1188720" cy="621792"/>
          </a:xfrm>
          <a:prstGeom prst="rect">
            <a:avLst/>
          </a:prstGeom>
        </p:spPr>
      </p:pic>
      <p:sp>
        <p:nvSpPr>
          <p:cNvPr id="10" name="Text 6"/>
          <p:cNvSpPr/>
          <p:nvPr/>
        </p:nvSpPr>
        <p:spPr>
          <a:xfrm>
            <a:off x="4206240" y="914400"/>
            <a:ext cx="7589520" cy="640080"/>
          </a:xfrm>
          <a:prstGeom prst="rect">
            <a:avLst/>
          </a:prstGeom>
          <a:noFill/>
          <a:ln/>
        </p:spPr>
        <p:txBody>
          <a:bodyPr wrap="square" rtlCol="0" anchor="ctr"/>
          <a:lstStyle/>
          <a:p>
            <a:pPr indent="0" marL="0">
              <a:buNone/>
            </a:pPr>
            <a:r>
              <a:rPr lang="en-US" sz="3200" b="1" dirty="0">
                <a:solidFill>
                  <a:srgbClr val="0B2545"/>
                </a:solidFill>
                <a:latin typeface="Trebuchet MS" pitchFamily="34" charset="0"/>
                <a:ea typeface="Trebuchet MS" pitchFamily="34" charset="-122"/>
                <a:cs typeface="Trebuchet MS" pitchFamily="34" charset="-120"/>
              </a:rPr>
              <a:t>Making Bell’s 6G Future Practical</a:t>
            </a:r>
            <a:endParaRPr lang="en-US" sz="3200" dirty="0"/>
          </a:p>
        </p:txBody>
      </p:sp>
      <p:sp>
        <p:nvSpPr>
          <p:cNvPr id="11" name="Text 7"/>
          <p:cNvSpPr/>
          <p:nvPr/>
        </p:nvSpPr>
        <p:spPr>
          <a:xfrm>
            <a:off x="4206240" y="1600200"/>
            <a:ext cx="7589520" cy="457200"/>
          </a:xfrm>
          <a:prstGeom prst="rect">
            <a:avLst/>
          </a:prstGeom>
          <a:noFill/>
          <a:ln/>
        </p:spPr>
        <p:txBody>
          <a:bodyPr wrap="square" rtlCol="0" anchor="ctr"/>
          <a:lstStyle/>
          <a:p>
            <a:pPr indent="0" marL="0">
              <a:buNone/>
            </a:pPr>
            <a:r>
              <a:rPr lang="en-US" sz="2200" dirty="0">
                <a:solidFill>
                  <a:srgbClr val="0E7C7B"/>
                </a:solidFill>
                <a:latin typeface="Trebuchet MS" pitchFamily="34" charset="0"/>
                <a:ea typeface="Trebuchet MS" pitchFamily="34" charset="-122"/>
                <a:cs typeface="Trebuchet MS" pitchFamily="34" charset="-120"/>
              </a:rPr>
              <a:t>Lower energy. Lower carbon. Safer autonomy.</a:t>
            </a:r>
            <a:endParaRPr lang="en-US" sz="2200" dirty="0"/>
          </a:p>
        </p:txBody>
      </p:sp>
      <p:sp>
        <p:nvSpPr>
          <p:cNvPr id="12" name="Shape 8"/>
          <p:cNvSpPr/>
          <p:nvPr/>
        </p:nvSpPr>
        <p:spPr>
          <a:xfrm>
            <a:off x="4206240" y="2286000"/>
            <a:ext cx="1097280" cy="0"/>
          </a:xfrm>
          <a:prstGeom prst="line">
            <a:avLst/>
          </a:prstGeom>
          <a:noFill/>
          <a:ln w="25400">
            <a:solidFill>
              <a:srgbClr val="1B9AAA"/>
            </a:solidFill>
            <a:prstDash val="solid"/>
          </a:ln>
        </p:spPr>
      </p:sp>
      <p:sp>
        <p:nvSpPr>
          <p:cNvPr id="13" name="Text 9"/>
          <p:cNvSpPr/>
          <p:nvPr/>
        </p:nvSpPr>
        <p:spPr>
          <a:xfrm>
            <a:off x="4206240" y="2468880"/>
            <a:ext cx="7589520" cy="731520"/>
          </a:xfrm>
          <a:prstGeom prst="rect">
            <a:avLst/>
          </a:prstGeom>
          <a:noFill/>
          <a:ln/>
        </p:spPr>
        <p:txBody>
          <a:bodyPr wrap="square" rtlCol="0" anchor="ctr"/>
          <a:lstStyle/>
          <a:p>
            <a:pPr indent="0" marL="0">
              <a:lnSpc>
                <a:spcPct val="130000"/>
              </a:lnSpc>
              <a:buNone/>
            </a:pPr>
            <a:r>
              <a:rPr lang="en-US" sz="1500" i="1" dirty="0">
                <a:solidFill>
                  <a:srgbClr val="24314A"/>
                </a:solidFill>
                <a:latin typeface="Calibri" pitchFamily="34" charset="0"/>
                <a:ea typeface="Calibri" pitchFamily="34" charset="-122"/>
                <a:cs typeface="Calibri" pitchFamily="34" charset="-120"/>
              </a:rPr>
              <a:t>How three PhD contributions translate into practical tools for Bell Mobility’s 6G roadmap.</a:t>
            </a:r>
            <a:endParaRPr lang="en-US" sz="1500" dirty="0"/>
          </a:p>
        </p:txBody>
      </p:sp>
      <p:sp>
        <p:nvSpPr>
          <p:cNvPr id="14" name="Shape 10"/>
          <p:cNvSpPr/>
          <p:nvPr/>
        </p:nvSpPr>
        <p:spPr>
          <a:xfrm>
            <a:off x="4206240" y="3657600"/>
            <a:ext cx="7589520" cy="2103120"/>
          </a:xfrm>
          <a:prstGeom prst="rect">
            <a:avLst/>
          </a:prstGeom>
          <a:solidFill>
            <a:srgbClr val="F4F7FB"/>
          </a:solidFill>
          <a:ln w="9525">
            <a:solidFill>
              <a:srgbClr val="E5EAF1"/>
            </a:solidFill>
            <a:prstDash val="solid"/>
          </a:ln>
        </p:spPr>
      </p:sp>
      <p:sp>
        <p:nvSpPr>
          <p:cNvPr id="15" name="Text 11"/>
          <p:cNvSpPr/>
          <p:nvPr/>
        </p:nvSpPr>
        <p:spPr>
          <a:xfrm>
            <a:off x="4434840" y="3794760"/>
            <a:ext cx="3474720" cy="274320"/>
          </a:xfrm>
          <a:prstGeom prst="rect">
            <a:avLst/>
          </a:prstGeom>
          <a:noFill/>
          <a:ln/>
        </p:spPr>
        <p:txBody>
          <a:bodyPr wrap="square" rtlCol="0" anchor="ctr"/>
          <a:lstStyle/>
          <a:p>
            <a:pPr indent="0" marL="0">
              <a:buNone/>
            </a:pPr>
            <a:r>
              <a:rPr lang="en-US" sz="1000" b="1" spc="200" kern="0" dirty="0">
                <a:solidFill>
                  <a:srgbClr val="1B9AAA"/>
                </a:solidFill>
                <a:latin typeface="Trebuchet MS" pitchFamily="34" charset="0"/>
                <a:ea typeface="Trebuchet MS" pitchFamily="34" charset="-122"/>
                <a:cs typeface="Trebuchet MS" pitchFamily="34" charset="-120"/>
              </a:rPr>
              <a:t>PRESENTER</a:t>
            </a:r>
            <a:endParaRPr lang="en-US" sz="1000" dirty="0"/>
          </a:p>
        </p:txBody>
      </p:sp>
      <p:sp>
        <p:nvSpPr>
          <p:cNvPr id="16" name="Text 12"/>
          <p:cNvSpPr/>
          <p:nvPr/>
        </p:nvSpPr>
        <p:spPr>
          <a:xfrm>
            <a:off x="4434840" y="4069080"/>
            <a:ext cx="7223760" cy="411480"/>
          </a:xfrm>
          <a:prstGeom prst="rect">
            <a:avLst/>
          </a:prstGeom>
          <a:noFill/>
          <a:ln/>
        </p:spPr>
        <p:txBody>
          <a:bodyPr wrap="square" rtlCol="0" anchor="ctr"/>
          <a:lstStyle/>
          <a:p>
            <a:pPr indent="0" marL="0">
              <a:buNone/>
            </a:pPr>
            <a:r>
              <a:rPr lang="en-US" sz="1800" b="1" dirty="0">
                <a:solidFill>
                  <a:srgbClr val="0B2545"/>
                </a:solidFill>
                <a:latin typeface="Trebuchet MS" pitchFamily="34" charset="0"/>
                <a:ea typeface="Trebuchet MS" pitchFamily="34" charset="-122"/>
                <a:cs typeface="Trebuchet MS" pitchFamily="34" charset="-120"/>
              </a:rPr>
              <a:t>Georges Parfait Djimefo Kapen</a:t>
            </a:r>
            <a:endParaRPr lang="en-US" sz="1800" dirty="0"/>
          </a:p>
        </p:txBody>
      </p:sp>
      <p:sp>
        <p:nvSpPr>
          <p:cNvPr id="17" name="Text 13"/>
          <p:cNvSpPr/>
          <p:nvPr/>
        </p:nvSpPr>
        <p:spPr>
          <a:xfrm>
            <a:off x="4434840" y="4434840"/>
            <a:ext cx="7223760" cy="320040"/>
          </a:xfrm>
          <a:prstGeom prst="rect">
            <a:avLst/>
          </a:prstGeom>
          <a:noFill/>
          <a:ln/>
        </p:spPr>
        <p:txBody>
          <a:bodyPr wrap="square" rtlCol="0" anchor="ctr"/>
          <a:lstStyle/>
          <a:p>
            <a:pPr indent="0" marL="0">
              <a:buNone/>
            </a:pPr>
            <a:r>
              <a:rPr lang="en-US" sz="1300" dirty="0">
                <a:solidFill>
                  <a:srgbClr val="5A6478"/>
                </a:solidFill>
                <a:latin typeface="Calibri" pitchFamily="34" charset="0"/>
                <a:ea typeface="Calibri" pitchFamily="34" charset="-122"/>
                <a:cs typeface="Calibri" pitchFamily="34" charset="-120"/>
              </a:rPr>
              <a:t>PhD candidate, Polytechnique Montréal — LARIM laboratory</a:t>
            </a:r>
            <a:endParaRPr lang="en-US" sz="1300" dirty="0"/>
          </a:p>
        </p:txBody>
      </p:sp>
      <p:sp>
        <p:nvSpPr>
          <p:cNvPr id="18" name="Text 14"/>
          <p:cNvSpPr/>
          <p:nvPr/>
        </p:nvSpPr>
        <p:spPr>
          <a:xfrm>
            <a:off x="4434840" y="4892040"/>
            <a:ext cx="3657600" cy="274320"/>
          </a:xfrm>
          <a:prstGeom prst="rect">
            <a:avLst/>
          </a:prstGeom>
          <a:noFill/>
          <a:ln/>
        </p:spPr>
        <p:txBody>
          <a:bodyPr wrap="square" rtlCol="0" anchor="ctr"/>
          <a:lstStyle/>
          <a:p>
            <a:pPr indent="0" marL="0">
              <a:buNone/>
            </a:pPr>
            <a:r>
              <a:rPr lang="en-US" sz="1000" b="1" spc="200" kern="0" dirty="0">
                <a:solidFill>
                  <a:srgbClr val="1B9AAA"/>
                </a:solidFill>
                <a:latin typeface="Trebuchet MS" pitchFamily="34" charset="0"/>
                <a:ea typeface="Trebuchet MS" pitchFamily="34" charset="-122"/>
                <a:cs typeface="Trebuchet MS" pitchFamily="34" charset="-120"/>
              </a:rPr>
              <a:t>THESIS DIRECTORS</a:t>
            </a:r>
            <a:endParaRPr lang="en-US" sz="1000" dirty="0"/>
          </a:p>
        </p:txBody>
      </p:sp>
      <p:sp>
        <p:nvSpPr>
          <p:cNvPr id="19" name="Text 15"/>
          <p:cNvSpPr/>
          <p:nvPr/>
        </p:nvSpPr>
        <p:spPr>
          <a:xfrm>
            <a:off x="4434840" y="5166360"/>
            <a:ext cx="7223760" cy="320040"/>
          </a:xfrm>
          <a:prstGeom prst="rect">
            <a:avLst/>
          </a:prstGeom>
          <a:noFill/>
          <a:ln/>
        </p:spPr>
        <p:txBody>
          <a:bodyPr wrap="square" rtlCol="0" anchor="ctr"/>
          <a:lstStyle/>
          <a:p>
            <a:pPr indent="0" marL="0">
              <a:buNone/>
            </a:pPr>
            <a:r>
              <a:rPr lang="en-US" sz="1300" dirty="0">
                <a:solidFill>
                  <a:srgbClr val="24314A"/>
                </a:solidFill>
                <a:latin typeface="Calibri" pitchFamily="34" charset="0"/>
                <a:ea typeface="Calibri" pitchFamily="34" charset="-122"/>
                <a:cs typeface="Calibri" pitchFamily="34" charset="-120"/>
              </a:rPr>
              <a:t>Prof. Ranwa Al-Mallah    ·    Prof. Samuel Pierre</a:t>
            </a:r>
            <a:endParaRPr lang="en-US" sz="1300" dirty="0"/>
          </a:p>
        </p:txBody>
      </p:sp>
      <p:sp>
        <p:nvSpPr>
          <p:cNvPr id="20" name="Text 16"/>
          <p:cNvSpPr/>
          <p:nvPr/>
        </p:nvSpPr>
        <p:spPr>
          <a:xfrm>
            <a:off x="4434840" y="5458968"/>
            <a:ext cx="2743200" cy="201168"/>
          </a:xfrm>
          <a:prstGeom prst="rect">
            <a:avLst/>
          </a:prstGeom>
          <a:noFill/>
          <a:ln/>
        </p:spPr>
        <p:txBody>
          <a:bodyPr wrap="square" rtlCol="0" anchor="ctr"/>
          <a:lstStyle/>
          <a:p>
            <a:pPr indent="0" marL="0">
              <a:buNone/>
            </a:pPr>
            <a:r>
              <a:rPr lang="en-US" sz="1000" b="1" spc="200" kern="0" dirty="0">
                <a:solidFill>
                  <a:srgbClr val="1B9AAA"/>
                </a:solidFill>
                <a:latin typeface="Trebuchet MS" pitchFamily="34" charset="0"/>
                <a:ea typeface="Trebuchet MS" pitchFamily="34" charset="-122"/>
                <a:cs typeface="Trebuchet MS" pitchFamily="34" charset="-120"/>
              </a:rPr>
              <a:t>DATE</a:t>
            </a:r>
            <a:endParaRPr lang="en-US" sz="1000" dirty="0"/>
          </a:p>
        </p:txBody>
      </p:sp>
      <p:sp>
        <p:nvSpPr>
          <p:cNvPr id="21" name="Text 17"/>
          <p:cNvSpPr/>
          <p:nvPr/>
        </p:nvSpPr>
        <p:spPr>
          <a:xfrm>
            <a:off x="4434840" y="5458968"/>
            <a:ext cx="7223760" cy="201168"/>
          </a:xfrm>
          <a:prstGeom prst="rect">
            <a:avLst/>
          </a:prstGeom>
          <a:noFill/>
          <a:ln/>
        </p:spPr>
        <p:txBody>
          <a:bodyPr wrap="square" rtlCol="0" anchor="ctr"/>
          <a:lstStyle/>
          <a:p>
            <a:pPr algn="r" indent="0" marL="0">
              <a:buNone/>
            </a:pPr>
            <a:r>
              <a:rPr lang="en-US" sz="1300" dirty="0">
                <a:solidFill>
                  <a:srgbClr val="24314A"/>
                </a:solidFill>
                <a:latin typeface="Calibri" pitchFamily="34" charset="0"/>
                <a:ea typeface="Calibri" pitchFamily="34" charset="-122"/>
                <a:cs typeface="Calibri" pitchFamily="34" charset="-120"/>
              </a:rPr>
              <a:t>Friday, May 15, 2026</a:t>
            </a:r>
            <a:endParaRPr lang="en-US" sz="1300" dirty="0"/>
          </a:p>
        </p:txBody>
      </p:sp>
      <p:sp>
        <p:nvSpPr>
          <p:cNvPr id="22" name="Text 18"/>
          <p:cNvSpPr/>
          <p:nvPr/>
        </p:nvSpPr>
        <p:spPr>
          <a:xfrm>
            <a:off x="4206240" y="6035040"/>
            <a:ext cx="7589520" cy="228600"/>
          </a:xfrm>
          <a:prstGeom prst="rect">
            <a:avLst/>
          </a:prstGeom>
          <a:noFill/>
          <a:ln/>
        </p:spPr>
        <p:txBody>
          <a:bodyPr wrap="square" rtlCol="0" anchor="ctr"/>
          <a:lstStyle/>
          <a:p>
            <a:pPr indent="0" marL="0">
              <a:buNone/>
            </a:pPr>
            <a:r>
              <a:rPr lang="en-US" sz="1000" spc="200" kern="0" dirty="0">
                <a:solidFill>
                  <a:srgbClr val="9AA3B2"/>
                </a:solidFill>
                <a:latin typeface="Calibri" pitchFamily="34" charset="0"/>
                <a:ea typeface="Calibri" pitchFamily="34" charset="-122"/>
                <a:cs typeface="Calibri" pitchFamily="34" charset="-120"/>
              </a:rPr>
              <a:t>For Bell Mobility executives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IN ONE MINUTE</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Bell already leads on 6G foundations. Four practical gaps remain.</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365760"/>
          </a:xfrm>
          <a:prstGeom prst="rect">
            <a:avLst/>
          </a:prstGeom>
          <a:noFill/>
          <a:ln/>
        </p:spPr>
        <p:txBody>
          <a:bodyPr wrap="square" rtlCol="0" anchor="ctr"/>
          <a:lstStyle/>
          <a:p>
            <a:pPr indent="0" marL="0">
              <a:buNone/>
            </a:pPr>
            <a:r>
              <a:rPr lang="en-US" sz="1400" i="1" dirty="0">
                <a:solidFill>
                  <a:srgbClr val="5A6478"/>
                </a:solidFill>
                <a:latin typeface="Calibri" pitchFamily="34" charset="0"/>
                <a:ea typeface="Calibri" pitchFamily="34" charset="-122"/>
                <a:cs typeface="Calibri" pitchFamily="34" charset="-120"/>
              </a:rPr>
              <a:t>Bell does not need another 6G demo. It needs working answers to four real operating constraints.</a:t>
            </a:r>
            <a:endParaRPr lang="en-US" sz="1400" dirty="0"/>
          </a:p>
        </p:txBody>
      </p:sp>
      <p:sp>
        <p:nvSpPr>
          <p:cNvPr id="6" name="Shape 4"/>
          <p:cNvSpPr/>
          <p:nvPr/>
        </p:nvSpPr>
        <p:spPr>
          <a:xfrm>
            <a:off x="457200" y="2057400"/>
            <a:ext cx="2681478" cy="2377440"/>
          </a:xfrm>
          <a:prstGeom prst="rect">
            <a:avLst/>
          </a:prstGeom>
          <a:solidFill>
            <a:srgbClr val="F4F7FB"/>
          </a:solidFill>
          <a:ln w="9525">
            <a:solidFill>
              <a:srgbClr val="E5EAF1"/>
            </a:solidFill>
            <a:prstDash val="solid"/>
          </a:ln>
        </p:spPr>
      </p:sp>
      <p:sp>
        <p:nvSpPr>
          <p:cNvPr id="7" name="Shape 5"/>
          <p:cNvSpPr/>
          <p:nvPr/>
        </p:nvSpPr>
        <p:spPr>
          <a:xfrm>
            <a:off x="457200" y="2057400"/>
            <a:ext cx="2681478" cy="73152"/>
          </a:xfrm>
          <a:prstGeom prst="rect">
            <a:avLst/>
          </a:prstGeom>
          <a:solidFill>
            <a:srgbClr val="1B9AAA"/>
          </a:solidFill>
          <a:ln w="12700">
            <a:solidFill>
              <a:srgbClr val="1B9AAA"/>
            </a:solidFill>
            <a:prstDash val="solid"/>
          </a:ln>
        </p:spPr>
      </p:sp>
      <p:sp>
        <p:nvSpPr>
          <p:cNvPr id="8" name="Text 6"/>
          <p:cNvSpPr/>
          <p:nvPr/>
        </p:nvSpPr>
        <p:spPr>
          <a:xfrm>
            <a:off x="685800" y="2331720"/>
            <a:ext cx="2224278" cy="457200"/>
          </a:xfrm>
          <a:prstGeom prst="rect">
            <a:avLst/>
          </a:prstGeom>
          <a:noFill/>
          <a:ln/>
        </p:spPr>
        <p:txBody>
          <a:bodyPr wrap="square" rtlCol="0" anchor="ctr"/>
          <a:lstStyle/>
          <a:p>
            <a:pPr indent="0" marL="0">
              <a:buNone/>
            </a:pPr>
            <a:r>
              <a:rPr lang="en-US" sz="1800" b="1" dirty="0">
                <a:solidFill>
                  <a:srgbClr val="0B2545"/>
                </a:solidFill>
                <a:latin typeface="Trebuchet MS" pitchFamily="34" charset="0"/>
                <a:ea typeface="Trebuchet MS" pitchFamily="34" charset="-122"/>
                <a:cs typeface="Trebuchet MS" pitchFamily="34" charset="-120"/>
              </a:rPr>
              <a:t>Energy</a:t>
            </a:r>
            <a:endParaRPr lang="en-US" sz="1800" dirty="0"/>
          </a:p>
        </p:txBody>
      </p:sp>
      <p:sp>
        <p:nvSpPr>
          <p:cNvPr id="9" name="Text 7"/>
          <p:cNvSpPr/>
          <p:nvPr/>
        </p:nvSpPr>
        <p:spPr>
          <a:xfrm>
            <a:off x="685800" y="2834640"/>
            <a:ext cx="2224278" cy="1417320"/>
          </a:xfrm>
          <a:prstGeom prst="rect">
            <a:avLst/>
          </a:prstGeom>
          <a:noFill/>
          <a:ln/>
        </p:spPr>
        <p:txBody>
          <a:bodyPr wrap="square" rtlCol="0" anchor="ctr"/>
          <a:lstStyle/>
          <a:p>
            <a:pPr indent="0" marL="0">
              <a:lnSpc>
                <a:spcPct val="135000"/>
              </a:lnSpc>
              <a:buNone/>
            </a:pPr>
            <a:r>
              <a:rPr lang="en-US" sz="1300" dirty="0">
                <a:solidFill>
                  <a:srgbClr val="24314A"/>
                </a:solidFill>
                <a:latin typeface="Calibri" pitchFamily="34" charset="0"/>
                <a:ea typeface="Calibri" pitchFamily="34" charset="-122"/>
                <a:cs typeface="Calibri" pitchFamily="34" charset="-120"/>
              </a:rPr>
              <a:t>The network is getting more efficient, but Bell can’t yet show how much each AI feature saves in electricity.</a:t>
            </a:r>
            <a:endParaRPr lang="en-US" sz="1300" dirty="0"/>
          </a:p>
        </p:txBody>
      </p:sp>
      <p:sp>
        <p:nvSpPr>
          <p:cNvPr id="10" name="Shape 8"/>
          <p:cNvSpPr/>
          <p:nvPr/>
        </p:nvSpPr>
        <p:spPr>
          <a:xfrm>
            <a:off x="3321558" y="2057400"/>
            <a:ext cx="2681478" cy="2377440"/>
          </a:xfrm>
          <a:prstGeom prst="rect">
            <a:avLst/>
          </a:prstGeom>
          <a:solidFill>
            <a:srgbClr val="F4F7FB"/>
          </a:solidFill>
          <a:ln w="9525">
            <a:solidFill>
              <a:srgbClr val="E5EAF1"/>
            </a:solidFill>
            <a:prstDash val="solid"/>
          </a:ln>
        </p:spPr>
      </p:sp>
      <p:sp>
        <p:nvSpPr>
          <p:cNvPr id="11" name="Shape 9"/>
          <p:cNvSpPr/>
          <p:nvPr/>
        </p:nvSpPr>
        <p:spPr>
          <a:xfrm>
            <a:off x="3321558" y="2057400"/>
            <a:ext cx="2681478" cy="73152"/>
          </a:xfrm>
          <a:prstGeom prst="rect">
            <a:avLst/>
          </a:prstGeom>
          <a:solidFill>
            <a:srgbClr val="1B9AAA"/>
          </a:solidFill>
          <a:ln w="12700">
            <a:solidFill>
              <a:srgbClr val="1B9AAA"/>
            </a:solidFill>
            <a:prstDash val="solid"/>
          </a:ln>
        </p:spPr>
      </p:sp>
      <p:sp>
        <p:nvSpPr>
          <p:cNvPr id="12" name="Text 10"/>
          <p:cNvSpPr/>
          <p:nvPr/>
        </p:nvSpPr>
        <p:spPr>
          <a:xfrm>
            <a:off x="3550158" y="2331720"/>
            <a:ext cx="2224278" cy="457200"/>
          </a:xfrm>
          <a:prstGeom prst="rect">
            <a:avLst/>
          </a:prstGeom>
          <a:noFill/>
          <a:ln/>
        </p:spPr>
        <p:txBody>
          <a:bodyPr wrap="square" rtlCol="0" anchor="ctr"/>
          <a:lstStyle/>
          <a:p>
            <a:pPr indent="0" marL="0">
              <a:buNone/>
            </a:pPr>
            <a:r>
              <a:rPr lang="en-US" sz="1800" b="1" dirty="0">
                <a:solidFill>
                  <a:srgbClr val="0B2545"/>
                </a:solidFill>
                <a:latin typeface="Trebuchet MS" pitchFamily="34" charset="0"/>
                <a:ea typeface="Trebuchet MS" pitchFamily="34" charset="-122"/>
                <a:cs typeface="Trebuchet MS" pitchFamily="34" charset="-120"/>
              </a:rPr>
              <a:t>Carbon</a:t>
            </a:r>
            <a:endParaRPr lang="en-US" sz="1800" dirty="0"/>
          </a:p>
        </p:txBody>
      </p:sp>
      <p:sp>
        <p:nvSpPr>
          <p:cNvPr id="13" name="Text 11"/>
          <p:cNvSpPr/>
          <p:nvPr/>
        </p:nvSpPr>
        <p:spPr>
          <a:xfrm>
            <a:off x="3550158" y="2834640"/>
            <a:ext cx="2224278" cy="1417320"/>
          </a:xfrm>
          <a:prstGeom prst="rect">
            <a:avLst/>
          </a:prstGeom>
          <a:noFill/>
          <a:ln/>
        </p:spPr>
        <p:txBody>
          <a:bodyPr wrap="square" rtlCol="0" anchor="ctr"/>
          <a:lstStyle/>
          <a:p>
            <a:pPr indent="0" marL="0">
              <a:lnSpc>
                <a:spcPct val="135000"/>
              </a:lnSpc>
              <a:buNone/>
            </a:pPr>
            <a:r>
              <a:rPr lang="en-US" sz="1300" dirty="0">
                <a:solidFill>
                  <a:srgbClr val="24314A"/>
                </a:solidFill>
                <a:latin typeface="Calibri" pitchFamily="34" charset="0"/>
                <a:ea typeface="Calibri" pitchFamily="34" charset="-122"/>
                <a:cs typeface="Calibri" pitchFamily="34" charset="-120"/>
              </a:rPr>
              <a:t>Most of Bell’s carbon footprint sits in purchased equipment and supplier activity — not only electricity.</a:t>
            </a:r>
            <a:endParaRPr lang="en-US" sz="1300" dirty="0"/>
          </a:p>
        </p:txBody>
      </p:sp>
      <p:sp>
        <p:nvSpPr>
          <p:cNvPr id="14" name="Shape 12"/>
          <p:cNvSpPr/>
          <p:nvPr/>
        </p:nvSpPr>
        <p:spPr>
          <a:xfrm>
            <a:off x="6185916" y="2057400"/>
            <a:ext cx="2681478" cy="2377440"/>
          </a:xfrm>
          <a:prstGeom prst="rect">
            <a:avLst/>
          </a:prstGeom>
          <a:solidFill>
            <a:srgbClr val="F4F7FB"/>
          </a:solidFill>
          <a:ln w="9525">
            <a:solidFill>
              <a:srgbClr val="E5EAF1"/>
            </a:solidFill>
            <a:prstDash val="solid"/>
          </a:ln>
        </p:spPr>
      </p:sp>
      <p:sp>
        <p:nvSpPr>
          <p:cNvPr id="15" name="Shape 13"/>
          <p:cNvSpPr/>
          <p:nvPr/>
        </p:nvSpPr>
        <p:spPr>
          <a:xfrm>
            <a:off x="6185916" y="2057400"/>
            <a:ext cx="2681478" cy="73152"/>
          </a:xfrm>
          <a:prstGeom prst="rect">
            <a:avLst/>
          </a:prstGeom>
          <a:solidFill>
            <a:srgbClr val="1B9AAA"/>
          </a:solidFill>
          <a:ln w="12700">
            <a:solidFill>
              <a:srgbClr val="1B9AAA"/>
            </a:solidFill>
            <a:prstDash val="solid"/>
          </a:ln>
        </p:spPr>
      </p:sp>
      <p:sp>
        <p:nvSpPr>
          <p:cNvPr id="16" name="Text 14"/>
          <p:cNvSpPr/>
          <p:nvPr/>
        </p:nvSpPr>
        <p:spPr>
          <a:xfrm>
            <a:off x="6414516" y="2331720"/>
            <a:ext cx="2224278" cy="457200"/>
          </a:xfrm>
          <a:prstGeom prst="rect">
            <a:avLst/>
          </a:prstGeom>
          <a:noFill/>
          <a:ln/>
        </p:spPr>
        <p:txBody>
          <a:bodyPr wrap="square" rtlCol="0" anchor="ctr"/>
          <a:lstStyle/>
          <a:p>
            <a:pPr indent="0" marL="0">
              <a:buNone/>
            </a:pPr>
            <a:r>
              <a:rPr lang="en-US" sz="1800" b="1" dirty="0">
                <a:solidFill>
                  <a:srgbClr val="0B2545"/>
                </a:solidFill>
                <a:latin typeface="Trebuchet MS" pitchFamily="34" charset="0"/>
                <a:ea typeface="Trebuchet MS" pitchFamily="34" charset="-122"/>
                <a:cs typeface="Trebuchet MS" pitchFamily="34" charset="-120"/>
              </a:rPr>
              <a:t>Security</a:t>
            </a:r>
            <a:endParaRPr lang="en-US" sz="1800" dirty="0"/>
          </a:p>
        </p:txBody>
      </p:sp>
      <p:sp>
        <p:nvSpPr>
          <p:cNvPr id="17" name="Text 15"/>
          <p:cNvSpPr/>
          <p:nvPr/>
        </p:nvSpPr>
        <p:spPr>
          <a:xfrm>
            <a:off x="6414516" y="2834640"/>
            <a:ext cx="2224278" cy="1417320"/>
          </a:xfrm>
          <a:prstGeom prst="rect">
            <a:avLst/>
          </a:prstGeom>
          <a:noFill/>
          <a:ln/>
        </p:spPr>
        <p:txBody>
          <a:bodyPr wrap="square" rtlCol="0" anchor="ctr"/>
          <a:lstStyle/>
          <a:p>
            <a:pPr indent="0" marL="0">
              <a:lnSpc>
                <a:spcPct val="135000"/>
              </a:lnSpc>
              <a:buNone/>
            </a:pPr>
            <a:r>
              <a:rPr lang="en-US" sz="1300" dirty="0">
                <a:solidFill>
                  <a:srgbClr val="24314A"/>
                </a:solidFill>
                <a:latin typeface="Calibri" pitchFamily="34" charset="0"/>
                <a:ea typeface="Calibri" pitchFamily="34" charset="-122"/>
                <a:cs typeface="Calibri" pitchFamily="34" charset="-120"/>
              </a:rPr>
              <a:t>Future networks let software act on its own. Bell needs guardrails so attackers can’t fool that software.</a:t>
            </a:r>
            <a:endParaRPr lang="en-US" sz="1300" dirty="0"/>
          </a:p>
        </p:txBody>
      </p:sp>
      <p:sp>
        <p:nvSpPr>
          <p:cNvPr id="18" name="Shape 16"/>
          <p:cNvSpPr/>
          <p:nvPr/>
        </p:nvSpPr>
        <p:spPr>
          <a:xfrm>
            <a:off x="9050274" y="2057400"/>
            <a:ext cx="2681478" cy="2377440"/>
          </a:xfrm>
          <a:prstGeom prst="rect">
            <a:avLst/>
          </a:prstGeom>
          <a:solidFill>
            <a:srgbClr val="F4F7FB"/>
          </a:solidFill>
          <a:ln w="9525">
            <a:solidFill>
              <a:srgbClr val="E5EAF1"/>
            </a:solidFill>
            <a:prstDash val="solid"/>
          </a:ln>
        </p:spPr>
      </p:sp>
      <p:sp>
        <p:nvSpPr>
          <p:cNvPr id="19" name="Shape 17"/>
          <p:cNvSpPr/>
          <p:nvPr/>
        </p:nvSpPr>
        <p:spPr>
          <a:xfrm>
            <a:off x="9050274" y="2057400"/>
            <a:ext cx="2681478" cy="73152"/>
          </a:xfrm>
          <a:prstGeom prst="rect">
            <a:avLst/>
          </a:prstGeom>
          <a:solidFill>
            <a:srgbClr val="1B9AAA"/>
          </a:solidFill>
          <a:ln w="12700">
            <a:solidFill>
              <a:srgbClr val="1B9AAA"/>
            </a:solidFill>
            <a:prstDash val="solid"/>
          </a:ln>
        </p:spPr>
      </p:sp>
      <p:sp>
        <p:nvSpPr>
          <p:cNvPr id="20" name="Text 18"/>
          <p:cNvSpPr/>
          <p:nvPr/>
        </p:nvSpPr>
        <p:spPr>
          <a:xfrm>
            <a:off x="9278874" y="2331720"/>
            <a:ext cx="2224278" cy="457200"/>
          </a:xfrm>
          <a:prstGeom prst="rect">
            <a:avLst/>
          </a:prstGeom>
          <a:noFill/>
          <a:ln/>
        </p:spPr>
        <p:txBody>
          <a:bodyPr wrap="square" rtlCol="0" anchor="ctr"/>
          <a:lstStyle/>
          <a:p>
            <a:pPr indent="0" marL="0">
              <a:buNone/>
            </a:pPr>
            <a:r>
              <a:rPr lang="en-US" sz="1800" b="1" dirty="0">
                <a:solidFill>
                  <a:srgbClr val="0B2545"/>
                </a:solidFill>
                <a:latin typeface="Trebuchet MS" pitchFamily="34" charset="0"/>
                <a:ea typeface="Trebuchet MS" pitchFamily="34" charset="-122"/>
                <a:cs typeface="Trebuchet MS" pitchFamily="34" charset="-120"/>
              </a:rPr>
              <a:t>Canadian coverage</a:t>
            </a:r>
            <a:endParaRPr lang="en-US" sz="1800" dirty="0"/>
          </a:p>
        </p:txBody>
      </p:sp>
      <p:sp>
        <p:nvSpPr>
          <p:cNvPr id="21" name="Text 19"/>
          <p:cNvSpPr/>
          <p:nvPr/>
        </p:nvSpPr>
        <p:spPr>
          <a:xfrm>
            <a:off x="9278874" y="2834640"/>
            <a:ext cx="2224278" cy="1417320"/>
          </a:xfrm>
          <a:prstGeom prst="rect">
            <a:avLst/>
          </a:prstGeom>
          <a:noFill/>
          <a:ln/>
        </p:spPr>
        <p:txBody>
          <a:bodyPr wrap="square" rtlCol="0" anchor="ctr"/>
          <a:lstStyle/>
          <a:p>
            <a:pPr indent="0" marL="0">
              <a:lnSpc>
                <a:spcPct val="135000"/>
              </a:lnSpc>
              <a:buNone/>
            </a:pPr>
            <a:r>
              <a:rPr lang="en-US" sz="1300" dirty="0">
                <a:solidFill>
                  <a:srgbClr val="24314A"/>
                </a:solidFill>
                <a:latin typeface="Calibri" pitchFamily="34" charset="0"/>
                <a:ea typeface="Calibri" pitchFamily="34" charset="-122"/>
                <a:cs typeface="Calibri" pitchFamily="34" charset="-120"/>
              </a:rPr>
              <a:t>Rural, Indigenous, and Far-North service must be reliable on low power and limited backhaul.</a:t>
            </a:r>
            <a:endParaRPr lang="en-US" sz="1300" dirty="0"/>
          </a:p>
        </p:txBody>
      </p:sp>
      <p:sp>
        <p:nvSpPr>
          <p:cNvPr id="22" name="Shape 20"/>
          <p:cNvSpPr/>
          <p:nvPr/>
        </p:nvSpPr>
        <p:spPr>
          <a:xfrm>
            <a:off x="457200" y="4709160"/>
            <a:ext cx="11274552" cy="1600200"/>
          </a:xfrm>
          <a:prstGeom prst="rect">
            <a:avLst/>
          </a:prstGeom>
          <a:solidFill>
            <a:srgbClr val="EEF3FA"/>
          </a:solidFill>
          <a:ln w="9525">
            <a:solidFill>
              <a:srgbClr val="E5EAF1"/>
            </a:solidFill>
            <a:prstDash val="solid"/>
          </a:ln>
        </p:spPr>
      </p:sp>
      <p:sp>
        <p:nvSpPr>
          <p:cNvPr id="23" name="Text 21"/>
          <p:cNvSpPr/>
          <p:nvPr/>
        </p:nvSpPr>
        <p:spPr>
          <a:xfrm>
            <a:off x="731520" y="4818888"/>
            <a:ext cx="10789920" cy="274320"/>
          </a:xfrm>
          <a:prstGeom prst="rect">
            <a:avLst/>
          </a:prstGeom>
          <a:noFill/>
          <a:ln/>
        </p:spPr>
        <p:txBody>
          <a:bodyPr wrap="square" rtlCol="0" anchor="ctr"/>
          <a:lstStyle/>
          <a:p>
            <a:pPr indent="0" marL="0">
              <a:buNone/>
            </a:pPr>
            <a:r>
              <a:rPr lang="en-US" sz="1050" b="1" spc="200" kern="0" dirty="0">
                <a:solidFill>
                  <a:srgbClr val="1B9AAA"/>
                </a:solidFill>
                <a:latin typeface="Trebuchet MS" pitchFamily="34" charset="0"/>
                <a:ea typeface="Trebuchet MS" pitchFamily="34" charset="-122"/>
                <a:cs typeface="Trebuchet MS" pitchFamily="34" charset="-120"/>
              </a:rPr>
              <a:t>THE THESIS OFFERS THREE PRACTICAL TOOLS</a:t>
            </a:r>
            <a:endParaRPr lang="en-US" sz="1050" dirty="0"/>
          </a:p>
        </p:txBody>
      </p:sp>
      <p:sp>
        <p:nvSpPr>
          <p:cNvPr id="24" name="Text 22"/>
          <p:cNvSpPr/>
          <p:nvPr/>
        </p:nvSpPr>
        <p:spPr>
          <a:xfrm>
            <a:off x="731520" y="5138928"/>
            <a:ext cx="3453384" cy="320040"/>
          </a:xfrm>
          <a:prstGeom prst="rect">
            <a:avLst/>
          </a:prstGeom>
          <a:noFill/>
          <a:ln/>
        </p:spPr>
        <p:txBody>
          <a:bodyPr wrap="square" rtlCol="0" anchor="ctr"/>
          <a:lstStyle/>
          <a:p>
            <a:pPr indent="0" marL="0">
              <a:buNone/>
            </a:pPr>
            <a:r>
              <a:rPr lang="en-US" sz="1700" b="1" dirty="0">
                <a:solidFill>
                  <a:srgbClr val="0E7C7B"/>
                </a:solidFill>
                <a:latin typeface="Trebuchet MS" pitchFamily="34" charset="0"/>
                <a:ea typeface="Trebuchet MS" pitchFamily="34" charset="-122"/>
                <a:cs typeface="Trebuchet MS" pitchFamily="34" charset="-120"/>
              </a:rPr>
              <a:t>GAPF</a:t>
            </a:r>
            <a:endParaRPr lang="en-US" sz="1700" dirty="0"/>
          </a:p>
        </p:txBody>
      </p:sp>
      <p:sp>
        <p:nvSpPr>
          <p:cNvPr id="25" name="Text 23"/>
          <p:cNvSpPr/>
          <p:nvPr/>
        </p:nvSpPr>
        <p:spPr>
          <a:xfrm>
            <a:off x="731520" y="5486400"/>
            <a:ext cx="3453384" cy="73152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Keep remote devices alive longer on tiny batteries.</a:t>
            </a:r>
            <a:endParaRPr lang="en-US" sz="1250" dirty="0"/>
          </a:p>
        </p:txBody>
      </p:sp>
      <p:sp>
        <p:nvSpPr>
          <p:cNvPr id="26" name="Text 24"/>
          <p:cNvSpPr/>
          <p:nvPr/>
        </p:nvSpPr>
        <p:spPr>
          <a:xfrm>
            <a:off x="4367784" y="5138928"/>
            <a:ext cx="3453384" cy="320040"/>
          </a:xfrm>
          <a:prstGeom prst="rect">
            <a:avLst/>
          </a:prstGeom>
          <a:noFill/>
          <a:ln/>
        </p:spPr>
        <p:txBody>
          <a:bodyPr wrap="square" rtlCol="0" anchor="ctr"/>
          <a:lstStyle/>
          <a:p>
            <a:pPr indent="0" marL="0">
              <a:buNone/>
            </a:pPr>
            <a:r>
              <a:rPr lang="en-US" sz="1700" b="1" dirty="0">
                <a:solidFill>
                  <a:srgbClr val="0E7C7B"/>
                </a:solidFill>
                <a:latin typeface="Trebuchet MS" pitchFamily="34" charset="0"/>
                <a:ea typeface="Trebuchet MS" pitchFamily="34" charset="-122"/>
                <a:cs typeface="Trebuchet MS" pitchFamily="34" charset="-120"/>
              </a:rPr>
              <a:t>CALASH</a:t>
            </a:r>
            <a:endParaRPr lang="en-US" sz="1700" dirty="0"/>
          </a:p>
        </p:txBody>
      </p:sp>
      <p:sp>
        <p:nvSpPr>
          <p:cNvPr id="27" name="Text 25"/>
          <p:cNvSpPr/>
          <p:nvPr/>
        </p:nvSpPr>
        <p:spPr>
          <a:xfrm>
            <a:off x="4367784" y="5486400"/>
            <a:ext cx="3453384" cy="73152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Choose network routes that save energy and delay equipment replacement.</a:t>
            </a:r>
            <a:endParaRPr lang="en-US" sz="1250" dirty="0"/>
          </a:p>
        </p:txBody>
      </p:sp>
      <p:sp>
        <p:nvSpPr>
          <p:cNvPr id="28" name="Text 26"/>
          <p:cNvSpPr/>
          <p:nvPr/>
        </p:nvSpPr>
        <p:spPr>
          <a:xfrm>
            <a:off x="8004048" y="5138928"/>
            <a:ext cx="3453384" cy="320040"/>
          </a:xfrm>
          <a:prstGeom prst="rect">
            <a:avLst/>
          </a:prstGeom>
          <a:noFill/>
          <a:ln/>
        </p:spPr>
        <p:txBody>
          <a:bodyPr wrap="square" rtlCol="0" anchor="ctr"/>
          <a:lstStyle/>
          <a:p>
            <a:pPr indent="0" marL="0">
              <a:buNone/>
            </a:pPr>
            <a:r>
              <a:rPr lang="en-US" sz="1700" b="1" dirty="0">
                <a:solidFill>
                  <a:srgbClr val="0E7C7B"/>
                </a:solidFill>
                <a:latin typeface="Trebuchet MS" pitchFamily="34" charset="0"/>
                <a:ea typeface="Trebuchet MS" pitchFamily="34" charset="-122"/>
                <a:cs typeface="Trebuchet MS" pitchFamily="34" charset="-120"/>
              </a:rPr>
              <a:t>CASTER-ZT</a:t>
            </a:r>
            <a:endParaRPr lang="en-US" sz="1700" dirty="0"/>
          </a:p>
        </p:txBody>
      </p:sp>
      <p:sp>
        <p:nvSpPr>
          <p:cNvPr id="29" name="Text 27"/>
          <p:cNvSpPr/>
          <p:nvPr/>
        </p:nvSpPr>
        <p:spPr>
          <a:xfrm>
            <a:off x="8004048" y="5486400"/>
            <a:ext cx="3453384" cy="73152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Let autonomous network software act fast, without trusting any input blindly.</a:t>
            </a:r>
            <a:endParaRPr lang="en-US" sz="1250" dirty="0"/>
          </a:p>
        </p:txBody>
      </p:sp>
      <p:sp>
        <p:nvSpPr>
          <p:cNvPr id="30" name="Text 28"/>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1"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2" name="Text 29"/>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BCE 2024 Climate Action Report</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O-RAN Alliance security update 2025</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CRTC Indigenous connectivity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WHY BELL, WHY NOW</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Bell’s 6G foundations are already in place</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365760"/>
          </a:xfrm>
          <a:prstGeom prst="rect">
            <a:avLst/>
          </a:prstGeom>
          <a:noFill/>
          <a:ln/>
        </p:spPr>
        <p:txBody>
          <a:bodyPr wrap="square"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These six building blocks are what 6G will run on. Bell is already investing in every one of them.</a:t>
            </a:r>
            <a:endParaRPr lang="en-US" sz="1350" dirty="0"/>
          </a:p>
        </p:txBody>
      </p:sp>
      <p:sp>
        <p:nvSpPr>
          <p:cNvPr id="6" name="Shape 4"/>
          <p:cNvSpPr/>
          <p:nvPr/>
        </p:nvSpPr>
        <p:spPr>
          <a:xfrm>
            <a:off x="457200" y="2011680"/>
            <a:ext cx="5500116" cy="1188720"/>
          </a:xfrm>
          <a:prstGeom prst="rect">
            <a:avLst/>
          </a:prstGeom>
          <a:solidFill>
            <a:srgbClr val="F4F7FB"/>
          </a:solidFill>
          <a:ln w="9525">
            <a:solidFill>
              <a:srgbClr val="E5EAF1"/>
            </a:solidFill>
            <a:prstDash val="solid"/>
          </a:ln>
        </p:spPr>
      </p:sp>
      <p:sp>
        <p:nvSpPr>
          <p:cNvPr id="7" name="Shape 5"/>
          <p:cNvSpPr/>
          <p:nvPr/>
        </p:nvSpPr>
        <p:spPr>
          <a:xfrm>
            <a:off x="685800" y="2240280"/>
            <a:ext cx="365760" cy="365760"/>
          </a:xfrm>
          <a:prstGeom prst="ellipse">
            <a:avLst/>
          </a:prstGeom>
          <a:solidFill>
            <a:srgbClr val="1B9AAA"/>
          </a:solidFill>
          <a:ln w="12700">
            <a:solidFill>
              <a:srgbClr val="1B9AAA"/>
            </a:solidFill>
            <a:prstDash val="solid"/>
          </a:ln>
        </p:spPr>
      </p:sp>
      <p:sp>
        <p:nvSpPr>
          <p:cNvPr id="8" name="Text 6"/>
          <p:cNvSpPr/>
          <p:nvPr/>
        </p:nvSpPr>
        <p:spPr>
          <a:xfrm>
            <a:off x="685800" y="22402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9" name="Text 7"/>
          <p:cNvSpPr/>
          <p:nvPr/>
        </p:nvSpPr>
        <p:spPr>
          <a:xfrm>
            <a:off x="1188720" y="21762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5G Standalone &amp; 5G+ Advanced</a:t>
            </a:r>
            <a:endParaRPr lang="en-US" sz="1400" dirty="0"/>
          </a:p>
        </p:txBody>
      </p:sp>
      <p:sp>
        <p:nvSpPr>
          <p:cNvPr id="10" name="Text 8"/>
          <p:cNvSpPr/>
          <p:nvPr/>
        </p:nvSpPr>
        <p:spPr>
          <a:xfrm>
            <a:off x="1188720" y="25603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Bell positions 5G+ Advanced as the on-ramp to 6G — faster speeds, lower delay, network slicing.</a:t>
            </a:r>
            <a:endParaRPr lang="en-US" sz="1200" dirty="0"/>
          </a:p>
        </p:txBody>
      </p:sp>
      <p:sp>
        <p:nvSpPr>
          <p:cNvPr id="11" name="Shape 9"/>
          <p:cNvSpPr/>
          <p:nvPr/>
        </p:nvSpPr>
        <p:spPr>
          <a:xfrm>
            <a:off x="6231636" y="2011680"/>
            <a:ext cx="5500116" cy="1188720"/>
          </a:xfrm>
          <a:prstGeom prst="rect">
            <a:avLst/>
          </a:prstGeom>
          <a:solidFill>
            <a:srgbClr val="F4F7FB"/>
          </a:solidFill>
          <a:ln w="9525">
            <a:solidFill>
              <a:srgbClr val="E5EAF1"/>
            </a:solidFill>
            <a:prstDash val="solid"/>
          </a:ln>
        </p:spPr>
      </p:sp>
      <p:sp>
        <p:nvSpPr>
          <p:cNvPr id="12" name="Shape 10"/>
          <p:cNvSpPr/>
          <p:nvPr/>
        </p:nvSpPr>
        <p:spPr>
          <a:xfrm>
            <a:off x="6460236" y="2240280"/>
            <a:ext cx="365760" cy="365760"/>
          </a:xfrm>
          <a:prstGeom prst="ellipse">
            <a:avLst/>
          </a:prstGeom>
          <a:solidFill>
            <a:srgbClr val="1B9AAA"/>
          </a:solidFill>
          <a:ln w="12700">
            <a:solidFill>
              <a:srgbClr val="1B9AAA"/>
            </a:solidFill>
            <a:prstDash val="solid"/>
          </a:ln>
        </p:spPr>
      </p:sp>
      <p:sp>
        <p:nvSpPr>
          <p:cNvPr id="13" name="Text 11"/>
          <p:cNvSpPr/>
          <p:nvPr/>
        </p:nvSpPr>
        <p:spPr>
          <a:xfrm>
            <a:off x="6460236" y="22402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4" name="Text 12"/>
          <p:cNvSpPr/>
          <p:nvPr/>
        </p:nvSpPr>
        <p:spPr>
          <a:xfrm>
            <a:off x="6963156" y="21762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AI inside the radio (with Ericsson)</a:t>
            </a:r>
            <a:endParaRPr lang="en-US" sz="1400" dirty="0"/>
          </a:p>
        </p:txBody>
      </p:sp>
      <p:sp>
        <p:nvSpPr>
          <p:cNvPr id="15" name="Text 13"/>
          <p:cNvSpPr/>
          <p:nvPr/>
        </p:nvSpPr>
        <p:spPr>
          <a:xfrm>
            <a:off x="6963156" y="25603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Live tests showed up to ~20% higher download speed using AI inside Bell’s network.</a:t>
            </a:r>
            <a:endParaRPr lang="en-US" sz="1200" dirty="0"/>
          </a:p>
        </p:txBody>
      </p:sp>
      <p:sp>
        <p:nvSpPr>
          <p:cNvPr id="16" name="Shape 14"/>
          <p:cNvSpPr/>
          <p:nvPr/>
        </p:nvSpPr>
        <p:spPr>
          <a:xfrm>
            <a:off x="457200" y="3383280"/>
            <a:ext cx="5500116" cy="1188720"/>
          </a:xfrm>
          <a:prstGeom prst="rect">
            <a:avLst/>
          </a:prstGeom>
          <a:solidFill>
            <a:srgbClr val="F4F7FB"/>
          </a:solidFill>
          <a:ln w="9525">
            <a:solidFill>
              <a:srgbClr val="E5EAF1"/>
            </a:solidFill>
            <a:prstDash val="solid"/>
          </a:ln>
        </p:spPr>
      </p:sp>
      <p:sp>
        <p:nvSpPr>
          <p:cNvPr id="17" name="Shape 15"/>
          <p:cNvSpPr/>
          <p:nvPr/>
        </p:nvSpPr>
        <p:spPr>
          <a:xfrm>
            <a:off x="685800" y="3611880"/>
            <a:ext cx="365760" cy="365760"/>
          </a:xfrm>
          <a:prstGeom prst="ellipse">
            <a:avLst/>
          </a:prstGeom>
          <a:solidFill>
            <a:srgbClr val="1B9AAA"/>
          </a:solidFill>
          <a:ln w="12700">
            <a:solidFill>
              <a:srgbClr val="1B9AAA"/>
            </a:solidFill>
            <a:prstDash val="solid"/>
          </a:ln>
        </p:spPr>
      </p:sp>
      <p:sp>
        <p:nvSpPr>
          <p:cNvPr id="18" name="Text 16"/>
          <p:cNvSpPr/>
          <p:nvPr/>
        </p:nvSpPr>
        <p:spPr>
          <a:xfrm>
            <a:off x="685800" y="36118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9" name="Text 17"/>
          <p:cNvSpPr/>
          <p:nvPr/>
        </p:nvSpPr>
        <p:spPr>
          <a:xfrm>
            <a:off x="1188720" y="35478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Cloud &amp; Open RAN (with Nokia)</a:t>
            </a:r>
            <a:endParaRPr lang="en-US" sz="1400" dirty="0"/>
          </a:p>
        </p:txBody>
      </p:sp>
      <p:sp>
        <p:nvSpPr>
          <p:cNvPr id="20" name="Text 18"/>
          <p:cNvSpPr/>
          <p:nvPr/>
        </p:nvSpPr>
        <p:spPr>
          <a:xfrm>
            <a:off x="1188720" y="39319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Radio software running on standard servers — the open architecture 6G will build on.</a:t>
            </a:r>
            <a:endParaRPr lang="en-US" sz="1200" dirty="0"/>
          </a:p>
        </p:txBody>
      </p:sp>
      <p:sp>
        <p:nvSpPr>
          <p:cNvPr id="21" name="Shape 19"/>
          <p:cNvSpPr/>
          <p:nvPr/>
        </p:nvSpPr>
        <p:spPr>
          <a:xfrm>
            <a:off x="6231636" y="3383280"/>
            <a:ext cx="5500116" cy="1188720"/>
          </a:xfrm>
          <a:prstGeom prst="rect">
            <a:avLst/>
          </a:prstGeom>
          <a:solidFill>
            <a:srgbClr val="F4F7FB"/>
          </a:solidFill>
          <a:ln w="9525">
            <a:solidFill>
              <a:srgbClr val="E5EAF1"/>
            </a:solidFill>
            <a:prstDash val="solid"/>
          </a:ln>
        </p:spPr>
      </p:sp>
      <p:sp>
        <p:nvSpPr>
          <p:cNvPr id="22" name="Shape 20"/>
          <p:cNvSpPr/>
          <p:nvPr/>
        </p:nvSpPr>
        <p:spPr>
          <a:xfrm>
            <a:off x="6460236" y="3611880"/>
            <a:ext cx="365760" cy="365760"/>
          </a:xfrm>
          <a:prstGeom prst="ellipse">
            <a:avLst/>
          </a:prstGeom>
          <a:solidFill>
            <a:srgbClr val="1B9AAA"/>
          </a:solidFill>
          <a:ln w="12700">
            <a:solidFill>
              <a:srgbClr val="1B9AAA"/>
            </a:solidFill>
            <a:prstDash val="solid"/>
          </a:ln>
        </p:spPr>
      </p:sp>
      <p:sp>
        <p:nvSpPr>
          <p:cNvPr id="23" name="Text 21"/>
          <p:cNvSpPr/>
          <p:nvPr/>
        </p:nvSpPr>
        <p:spPr>
          <a:xfrm>
            <a:off x="6460236" y="36118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4" name="Text 22"/>
          <p:cNvSpPr/>
          <p:nvPr/>
        </p:nvSpPr>
        <p:spPr>
          <a:xfrm>
            <a:off x="6963156" y="35478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Edge computing &amp; Bell AI Fabric</a:t>
            </a:r>
            <a:endParaRPr lang="en-US" sz="1400" dirty="0"/>
          </a:p>
        </p:txBody>
      </p:sp>
      <p:sp>
        <p:nvSpPr>
          <p:cNvPr id="25" name="Text 23"/>
          <p:cNvSpPr/>
          <p:nvPr/>
        </p:nvSpPr>
        <p:spPr>
          <a:xfrm>
            <a:off x="6963156" y="39319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Bell’s sovereign AI infrastructure on Canadian hydro-powered capacity.</a:t>
            </a:r>
            <a:endParaRPr lang="en-US" sz="1200" dirty="0"/>
          </a:p>
        </p:txBody>
      </p:sp>
      <p:sp>
        <p:nvSpPr>
          <p:cNvPr id="26" name="Shape 24"/>
          <p:cNvSpPr/>
          <p:nvPr/>
        </p:nvSpPr>
        <p:spPr>
          <a:xfrm>
            <a:off x="457200" y="4754880"/>
            <a:ext cx="5500116" cy="1188720"/>
          </a:xfrm>
          <a:prstGeom prst="rect">
            <a:avLst/>
          </a:prstGeom>
          <a:solidFill>
            <a:srgbClr val="F4F7FB"/>
          </a:solidFill>
          <a:ln w="9525">
            <a:solidFill>
              <a:srgbClr val="E5EAF1"/>
            </a:solidFill>
            <a:prstDash val="solid"/>
          </a:ln>
        </p:spPr>
      </p:sp>
      <p:sp>
        <p:nvSpPr>
          <p:cNvPr id="27" name="Shape 25"/>
          <p:cNvSpPr/>
          <p:nvPr/>
        </p:nvSpPr>
        <p:spPr>
          <a:xfrm>
            <a:off x="685800" y="4983480"/>
            <a:ext cx="365760" cy="365760"/>
          </a:xfrm>
          <a:prstGeom prst="ellipse">
            <a:avLst/>
          </a:prstGeom>
          <a:solidFill>
            <a:srgbClr val="1B9AAA"/>
          </a:solidFill>
          <a:ln w="12700">
            <a:solidFill>
              <a:srgbClr val="1B9AAA"/>
            </a:solidFill>
            <a:prstDash val="solid"/>
          </a:ln>
        </p:spPr>
      </p:sp>
      <p:sp>
        <p:nvSpPr>
          <p:cNvPr id="28" name="Text 26"/>
          <p:cNvSpPr/>
          <p:nvPr/>
        </p:nvSpPr>
        <p:spPr>
          <a:xfrm>
            <a:off x="685800" y="49834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9" name="Text 27"/>
          <p:cNvSpPr/>
          <p:nvPr/>
        </p:nvSpPr>
        <p:spPr>
          <a:xfrm>
            <a:off x="1188720" y="49194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Satellite-to-mobile (direct-to-cell)</a:t>
            </a:r>
            <a:endParaRPr lang="en-US" sz="1400" dirty="0"/>
          </a:p>
        </p:txBody>
      </p:sp>
      <p:sp>
        <p:nvSpPr>
          <p:cNvPr id="30" name="Text 28"/>
          <p:cNvSpPr/>
          <p:nvPr/>
        </p:nvSpPr>
        <p:spPr>
          <a:xfrm>
            <a:off x="1188720" y="53035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Reaching the parts of Canada terrestrial towers cannot economically serve.</a:t>
            </a:r>
            <a:endParaRPr lang="en-US" sz="1200" dirty="0"/>
          </a:p>
        </p:txBody>
      </p:sp>
      <p:sp>
        <p:nvSpPr>
          <p:cNvPr id="31" name="Shape 29"/>
          <p:cNvSpPr/>
          <p:nvPr/>
        </p:nvSpPr>
        <p:spPr>
          <a:xfrm>
            <a:off x="6231636" y="4754880"/>
            <a:ext cx="5500116" cy="1188720"/>
          </a:xfrm>
          <a:prstGeom prst="rect">
            <a:avLst/>
          </a:prstGeom>
          <a:solidFill>
            <a:srgbClr val="F4F7FB"/>
          </a:solidFill>
          <a:ln w="9525">
            <a:solidFill>
              <a:srgbClr val="E5EAF1"/>
            </a:solidFill>
            <a:prstDash val="solid"/>
          </a:ln>
        </p:spPr>
      </p:sp>
      <p:sp>
        <p:nvSpPr>
          <p:cNvPr id="32" name="Shape 30"/>
          <p:cNvSpPr/>
          <p:nvPr/>
        </p:nvSpPr>
        <p:spPr>
          <a:xfrm>
            <a:off x="6460236" y="4983480"/>
            <a:ext cx="365760" cy="365760"/>
          </a:xfrm>
          <a:prstGeom prst="ellipse">
            <a:avLst/>
          </a:prstGeom>
          <a:solidFill>
            <a:srgbClr val="1B9AAA"/>
          </a:solidFill>
          <a:ln w="12700">
            <a:solidFill>
              <a:srgbClr val="1B9AAA"/>
            </a:solidFill>
            <a:prstDash val="solid"/>
          </a:ln>
        </p:spPr>
      </p:sp>
      <p:sp>
        <p:nvSpPr>
          <p:cNvPr id="33" name="Text 31"/>
          <p:cNvSpPr/>
          <p:nvPr/>
        </p:nvSpPr>
        <p:spPr>
          <a:xfrm>
            <a:off x="6460236" y="4983480"/>
            <a:ext cx="365760" cy="36576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6</a:t>
            </a:r>
            <a:endParaRPr lang="en-US" sz="1400" dirty="0"/>
          </a:p>
        </p:txBody>
      </p:sp>
      <p:sp>
        <p:nvSpPr>
          <p:cNvPr id="34" name="Text 32"/>
          <p:cNvSpPr/>
          <p:nvPr/>
        </p:nvSpPr>
        <p:spPr>
          <a:xfrm>
            <a:off x="6963156" y="4919472"/>
            <a:ext cx="4585716" cy="41148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Climate commitments</a:t>
            </a:r>
            <a:endParaRPr lang="en-US" sz="1400" dirty="0"/>
          </a:p>
        </p:txBody>
      </p:sp>
      <p:sp>
        <p:nvSpPr>
          <p:cNvPr id="35" name="Text 33"/>
          <p:cNvSpPr/>
          <p:nvPr/>
        </p:nvSpPr>
        <p:spPr>
          <a:xfrm>
            <a:off x="6963156" y="5303520"/>
            <a:ext cx="4585716" cy="6400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BCE (Bell’s parent company) targets ~58% lower direct emissions by 2030 — already 27% achieved.</a:t>
            </a:r>
            <a:endParaRPr lang="en-US" sz="1200" dirty="0"/>
          </a:p>
        </p:txBody>
      </p:sp>
      <p:sp>
        <p:nvSpPr>
          <p:cNvPr id="36" name="Text 34"/>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7"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8" name="Text 35"/>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Bell 5G+ Advanced launch</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Ericsson–Bell AI-native link adaptation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Nokia–Bell Cloud/Open RAN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Bell AI Fabric</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Bell direct-to-cell milestone</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BCE 2024 Climate Action Report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THE GAP</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What’s missing in Bell’s public 6G story today</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365760"/>
          </a:xfrm>
          <a:prstGeom prst="rect">
            <a:avLst/>
          </a:prstGeom>
          <a:noFill/>
          <a:ln/>
        </p:spPr>
        <p:txBody>
          <a:bodyPr wrap="square"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Each gap is also a chance to show industry leadership before competitors do.</a:t>
            </a:r>
            <a:endParaRPr lang="en-US" sz="1350" dirty="0"/>
          </a:p>
        </p:txBody>
      </p:sp>
      <p:sp>
        <p:nvSpPr>
          <p:cNvPr id="6" name="Shape 4"/>
          <p:cNvSpPr/>
          <p:nvPr/>
        </p:nvSpPr>
        <p:spPr>
          <a:xfrm>
            <a:off x="457200" y="2011680"/>
            <a:ext cx="11274552" cy="1033272"/>
          </a:xfrm>
          <a:prstGeom prst="rect">
            <a:avLst/>
          </a:prstGeom>
          <a:solidFill>
            <a:srgbClr val="F4F7FB"/>
          </a:solidFill>
          <a:ln w="9525">
            <a:solidFill>
              <a:srgbClr val="E5EAF1"/>
            </a:solidFill>
            <a:prstDash val="solid"/>
          </a:ln>
        </p:spPr>
      </p:sp>
      <p:sp>
        <p:nvSpPr>
          <p:cNvPr id="7" name="Shape 5"/>
          <p:cNvSpPr/>
          <p:nvPr/>
        </p:nvSpPr>
        <p:spPr>
          <a:xfrm>
            <a:off x="457200" y="2011680"/>
            <a:ext cx="73152" cy="73152"/>
          </a:xfrm>
          <a:prstGeom prst="rect">
            <a:avLst/>
          </a:prstGeom>
          <a:solidFill>
            <a:srgbClr val="1B9AAA"/>
          </a:solidFill>
          <a:ln w="12700">
            <a:solidFill>
              <a:srgbClr val="1B9AAA"/>
            </a:solidFill>
            <a:prstDash val="solid"/>
          </a:ln>
        </p:spPr>
      </p:sp>
      <p:sp>
        <p:nvSpPr>
          <p:cNvPr id="8" name="Text 6"/>
          <p:cNvSpPr/>
          <p:nvPr/>
        </p:nvSpPr>
        <p:spPr>
          <a:xfrm>
            <a:off x="685800" y="2103120"/>
            <a:ext cx="10789920" cy="32004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Per-feature energy reporting</a:t>
            </a:r>
            <a:endParaRPr lang="en-US" sz="1400" dirty="0"/>
          </a:p>
        </p:txBody>
      </p:sp>
      <p:sp>
        <p:nvSpPr>
          <p:cNvPr id="9" name="Text 7"/>
          <p:cNvSpPr/>
          <p:nvPr/>
        </p:nvSpPr>
        <p:spPr>
          <a:xfrm>
            <a:off x="685800" y="2423160"/>
            <a:ext cx="10789920" cy="365760"/>
          </a:xfrm>
          <a:prstGeom prst="rect">
            <a:avLst/>
          </a:prstGeom>
          <a:noFill/>
          <a:ln/>
        </p:spPr>
        <p:txBody>
          <a:bodyPr wrap="square" rtlCol="0" anchor="ctr"/>
          <a:lstStyle/>
          <a:p>
            <a:pPr indent="0" marL="0">
              <a:lnSpc>
                <a:spcPct val="125000"/>
              </a:lnSpc>
              <a:buNone/>
            </a:pPr>
            <a:r>
              <a:rPr lang="en-US" sz="1200" dirty="0">
                <a:solidFill>
                  <a:srgbClr val="24314A"/>
                </a:solidFill>
                <a:latin typeface="Calibri" pitchFamily="34" charset="0"/>
                <a:ea typeface="Calibri" pitchFamily="34" charset="-122"/>
                <a:cs typeface="Calibri" pitchFamily="34" charset="-120"/>
              </a:rPr>
              <a:t>Bell can report total electricity use, but not yet how much each AI feature in the network saves.</a:t>
            </a:r>
            <a:endParaRPr lang="en-US" sz="1200" dirty="0"/>
          </a:p>
        </p:txBody>
      </p:sp>
      <p:sp>
        <p:nvSpPr>
          <p:cNvPr id="10" name="Text 8"/>
          <p:cNvSpPr/>
          <p:nvPr/>
        </p:nvSpPr>
        <p:spPr>
          <a:xfrm>
            <a:off x="685800" y="2761488"/>
            <a:ext cx="10789920" cy="274320"/>
          </a:xfrm>
          <a:prstGeom prst="rect">
            <a:avLst/>
          </a:prstGeom>
          <a:noFill/>
          <a:ln/>
        </p:spPr>
        <p:txBody>
          <a:bodyPr wrap="square"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Why it matters: investor and regulator pressure on AI energy is rising.</a:t>
            </a:r>
            <a:endParaRPr lang="en-US" sz="1100" dirty="0"/>
          </a:p>
        </p:txBody>
      </p:sp>
      <p:sp>
        <p:nvSpPr>
          <p:cNvPr id="11" name="Shape 9"/>
          <p:cNvSpPr/>
          <p:nvPr/>
        </p:nvSpPr>
        <p:spPr>
          <a:xfrm>
            <a:off x="457200" y="3090672"/>
            <a:ext cx="11274552" cy="1033272"/>
          </a:xfrm>
          <a:prstGeom prst="rect">
            <a:avLst/>
          </a:prstGeom>
          <a:solidFill>
            <a:srgbClr val="F4F7FB"/>
          </a:solidFill>
          <a:ln w="9525">
            <a:solidFill>
              <a:srgbClr val="E5EAF1"/>
            </a:solidFill>
            <a:prstDash val="solid"/>
          </a:ln>
        </p:spPr>
      </p:sp>
      <p:sp>
        <p:nvSpPr>
          <p:cNvPr id="12" name="Shape 10"/>
          <p:cNvSpPr/>
          <p:nvPr/>
        </p:nvSpPr>
        <p:spPr>
          <a:xfrm>
            <a:off x="457200" y="3090672"/>
            <a:ext cx="73152" cy="73152"/>
          </a:xfrm>
          <a:prstGeom prst="rect">
            <a:avLst/>
          </a:prstGeom>
          <a:solidFill>
            <a:srgbClr val="1B9AAA"/>
          </a:solidFill>
          <a:ln w="12700">
            <a:solidFill>
              <a:srgbClr val="1B9AAA"/>
            </a:solidFill>
            <a:prstDash val="solid"/>
          </a:ln>
        </p:spPr>
      </p:sp>
      <p:sp>
        <p:nvSpPr>
          <p:cNvPr id="13" name="Text 11"/>
          <p:cNvSpPr/>
          <p:nvPr/>
        </p:nvSpPr>
        <p:spPr>
          <a:xfrm>
            <a:off x="685800" y="3182112"/>
            <a:ext cx="10789920" cy="32004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A published rulebook for autonomous network software</a:t>
            </a:r>
            <a:endParaRPr lang="en-US" sz="1400" dirty="0"/>
          </a:p>
        </p:txBody>
      </p:sp>
      <p:sp>
        <p:nvSpPr>
          <p:cNvPr id="14" name="Text 12"/>
          <p:cNvSpPr/>
          <p:nvPr/>
        </p:nvSpPr>
        <p:spPr>
          <a:xfrm>
            <a:off x="685800" y="3502152"/>
            <a:ext cx="10789920" cy="365760"/>
          </a:xfrm>
          <a:prstGeom prst="rect">
            <a:avLst/>
          </a:prstGeom>
          <a:noFill/>
          <a:ln/>
        </p:spPr>
        <p:txBody>
          <a:bodyPr wrap="square" rtlCol="0" anchor="ctr"/>
          <a:lstStyle/>
          <a:p>
            <a:pPr indent="0" marL="0">
              <a:lnSpc>
                <a:spcPct val="125000"/>
              </a:lnSpc>
              <a:buNone/>
            </a:pPr>
            <a:r>
              <a:rPr lang="en-US" sz="1200" dirty="0">
                <a:solidFill>
                  <a:srgbClr val="24314A"/>
                </a:solidFill>
                <a:latin typeface="Calibri" pitchFamily="34" charset="0"/>
                <a:ea typeface="Calibri" pitchFamily="34" charset="-122"/>
                <a:cs typeface="Calibri" pitchFamily="34" charset="-120"/>
              </a:rPr>
              <a:t>Bell hasn’t yet published a security model for software that controls the radio on its own (the part of Open RAN often called the “software brain”).</a:t>
            </a:r>
            <a:endParaRPr lang="en-US" sz="1200" dirty="0"/>
          </a:p>
        </p:txBody>
      </p:sp>
      <p:sp>
        <p:nvSpPr>
          <p:cNvPr id="15" name="Text 13"/>
          <p:cNvSpPr/>
          <p:nvPr/>
        </p:nvSpPr>
        <p:spPr>
          <a:xfrm>
            <a:off x="685800" y="3840480"/>
            <a:ext cx="10789920" cy="274320"/>
          </a:xfrm>
          <a:prstGeom prst="rect">
            <a:avLst/>
          </a:prstGeom>
          <a:noFill/>
          <a:ln/>
        </p:spPr>
        <p:txBody>
          <a:bodyPr wrap="square"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Why it matters: Canadian cyber law (Bill C-8) is tightening.</a:t>
            </a:r>
            <a:endParaRPr lang="en-US" sz="1100" dirty="0"/>
          </a:p>
        </p:txBody>
      </p:sp>
      <p:sp>
        <p:nvSpPr>
          <p:cNvPr id="16" name="Shape 14"/>
          <p:cNvSpPr/>
          <p:nvPr/>
        </p:nvSpPr>
        <p:spPr>
          <a:xfrm>
            <a:off x="457200" y="4169664"/>
            <a:ext cx="11274552" cy="1033272"/>
          </a:xfrm>
          <a:prstGeom prst="rect">
            <a:avLst/>
          </a:prstGeom>
          <a:solidFill>
            <a:srgbClr val="F4F7FB"/>
          </a:solidFill>
          <a:ln w="9525">
            <a:solidFill>
              <a:srgbClr val="E5EAF1"/>
            </a:solidFill>
            <a:prstDash val="solid"/>
          </a:ln>
        </p:spPr>
      </p:sp>
      <p:sp>
        <p:nvSpPr>
          <p:cNvPr id="17" name="Shape 15"/>
          <p:cNvSpPr/>
          <p:nvPr/>
        </p:nvSpPr>
        <p:spPr>
          <a:xfrm>
            <a:off x="457200" y="4169664"/>
            <a:ext cx="73152" cy="73152"/>
          </a:xfrm>
          <a:prstGeom prst="rect">
            <a:avLst/>
          </a:prstGeom>
          <a:solidFill>
            <a:srgbClr val="1B9AAA"/>
          </a:solidFill>
          <a:ln w="12700">
            <a:solidFill>
              <a:srgbClr val="1B9AAA"/>
            </a:solidFill>
            <a:prstDash val="solid"/>
          </a:ln>
        </p:spPr>
      </p:sp>
      <p:sp>
        <p:nvSpPr>
          <p:cNvPr id="18" name="Text 16"/>
          <p:cNvSpPr/>
          <p:nvPr/>
        </p:nvSpPr>
        <p:spPr>
          <a:xfrm>
            <a:off x="685800" y="4261104"/>
            <a:ext cx="10789920" cy="32004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No public pilots on emerging 6G hardware</a:t>
            </a:r>
            <a:endParaRPr lang="en-US" sz="1400" dirty="0"/>
          </a:p>
        </p:txBody>
      </p:sp>
      <p:sp>
        <p:nvSpPr>
          <p:cNvPr id="19" name="Text 17"/>
          <p:cNvSpPr/>
          <p:nvPr/>
        </p:nvSpPr>
        <p:spPr>
          <a:xfrm>
            <a:off x="685800" y="4581144"/>
            <a:ext cx="10789920" cy="365760"/>
          </a:xfrm>
          <a:prstGeom prst="rect">
            <a:avLst/>
          </a:prstGeom>
          <a:noFill/>
          <a:ln/>
        </p:spPr>
        <p:txBody>
          <a:bodyPr wrap="square" rtlCol="0" anchor="ctr"/>
          <a:lstStyle/>
          <a:p>
            <a:pPr indent="0" marL="0">
              <a:lnSpc>
                <a:spcPct val="125000"/>
              </a:lnSpc>
              <a:buNone/>
            </a:pPr>
            <a:r>
              <a:rPr lang="en-US" sz="1200" dirty="0">
                <a:solidFill>
                  <a:srgbClr val="24314A"/>
                </a:solidFill>
                <a:latin typeface="Calibri" pitchFamily="34" charset="0"/>
                <a:ea typeface="Calibri" pitchFamily="34" charset="-122"/>
                <a:cs typeface="Calibri" pitchFamily="34" charset="-120"/>
              </a:rPr>
              <a:t>New surface antennas, sub-THz radios, and sensing-radio (ISAC) ideas are research-stage today.</a:t>
            </a:r>
            <a:endParaRPr lang="en-US" sz="1200" dirty="0"/>
          </a:p>
        </p:txBody>
      </p:sp>
      <p:sp>
        <p:nvSpPr>
          <p:cNvPr id="20" name="Text 18"/>
          <p:cNvSpPr/>
          <p:nvPr/>
        </p:nvSpPr>
        <p:spPr>
          <a:xfrm>
            <a:off x="685800" y="4919472"/>
            <a:ext cx="10789920" cy="274320"/>
          </a:xfrm>
          <a:prstGeom prst="rect">
            <a:avLst/>
          </a:prstGeom>
          <a:noFill/>
          <a:ln/>
        </p:spPr>
        <p:txBody>
          <a:bodyPr wrap="square"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Why it matters: these are 3–5 year R&amp;D bets, not deployment-ready.</a:t>
            </a:r>
            <a:endParaRPr lang="en-US" sz="1100" dirty="0"/>
          </a:p>
        </p:txBody>
      </p:sp>
      <p:sp>
        <p:nvSpPr>
          <p:cNvPr id="21" name="Shape 19"/>
          <p:cNvSpPr/>
          <p:nvPr/>
        </p:nvSpPr>
        <p:spPr>
          <a:xfrm>
            <a:off x="457200" y="5248656"/>
            <a:ext cx="11274552" cy="1033272"/>
          </a:xfrm>
          <a:prstGeom prst="rect">
            <a:avLst/>
          </a:prstGeom>
          <a:solidFill>
            <a:srgbClr val="F4F7FB"/>
          </a:solidFill>
          <a:ln w="9525">
            <a:solidFill>
              <a:srgbClr val="E5EAF1"/>
            </a:solidFill>
            <a:prstDash val="solid"/>
          </a:ln>
        </p:spPr>
      </p:sp>
      <p:sp>
        <p:nvSpPr>
          <p:cNvPr id="22" name="Shape 20"/>
          <p:cNvSpPr/>
          <p:nvPr/>
        </p:nvSpPr>
        <p:spPr>
          <a:xfrm>
            <a:off x="457200" y="5248656"/>
            <a:ext cx="73152" cy="73152"/>
          </a:xfrm>
          <a:prstGeom prst="rect">
            <a:avLst/>
          </a:prstGeom>
          <a:solidFill>
            <a:srgbClr val="1B9AAA"/>
          </a:solidFill>
          <a:ln w="12700">
            <a:solidFill>
              <a:srgbClr val="1B9AAA"/>
            </a:solidFill>
            <a:prstDash val="solid"/>
          </a:ln>
        </p:spPr>
      </p:sp>
      <p:sp>
        <p:nvSpPr>
          <p:cNvPr id="23" name="Text 21"/>
          <p:cNvSpPr/>
          <p:nvPr/>
        </p:nvSpPr>
        <p:spPr>
          <a:xfrm>
            <a:off x="685800" y="5340096"/>
            <a:ext cx="10789920" cy="320040"/>
          </a:xfrm>
          <a:prstGeom prst="rect">
            <a:avLst/>
          </a:prstGeom>
          <a:noFill/>
          <a:ln/>
        </p:spPr>
        <p:txBody>
          <a:bodyPr wrap="square" rtlCol="0" anchor="ctr"/>
          <a:lstStyle/>
          <a:p>
            <a:pPr indent="0" marL="0">
              <a:buNone/>
            </a:pPr>
            <a:r>
              <a:rPr lang="en-US" sz="1400" b="1" dirty="0">
                <a:solidFill>
                  <a:srgbClr val="0B2545"/>
                </a:solidFill>
                <a:latin typeface="Trebuchet MS" pitchFamily="34" charset="0"/>
                <a:ea typeface="Trebuchet MS" pitchFamily="34" charset="-122"/>
                <a:cs typeface="Trebuchet MS" pitchFamily="34" charset="-120"/>
              </a:rPr>
              <a:t>Rural, Indigenous, and public-safety constraints</a:t>
            </a:r>
            <a:endParaRPr lang="en-US" sz="1400" dirty="0"/>
          </a:p>
        </p:txBody>
      </p:sp>
      <p:sp>
        <p:nvSpPr>
          <p:cNvPr id="24" name="Text 22"/>
          <p:cNvSpPr/>
          <p:nvPr/>
        </p:nvSpPr>
        <p:spPr>
          <a:xfrm>
            <a:off x="685800" y="5660136"/>
            <a:ext cx="10789920" cy="365760"/>
          </a:xfrm>
          <a:prstGeom prst="rect">
            <a:avLst/>
          </a:prstGeom>
          <a:noFill/>
          <a:ln/>
        </p:spPr>
        <p:txBody>
          <a:bodyPr wrap="square" rtlCol="0" anchor="ctr"/>
          <a:lstStyle/>
          <a:p>
            <a:pPr indent="0" marL="0">
              <a:lnSpc>
                <a:spcPct val="125000"/>
              </a:lnSpc>
              <a:buNone/>
            </a:pPr>
            <a:r>
              <a:rPr lang="en-US" sz="1200" dirty="0">
                <a:solidFill>
                  <a:srgbClr val="24314A"/>
                </a:solidFill>
                <a:latin typeface="Calibri" pitchFamily="34" charset="0"/>
                <a:ea typeface="Calibri" pitchFamily="34" charset="-122"/>
                <a:cs typeface="Calibri" pitchFamily="34" charset="-120"/>
              </a:rPr>
              <a:t>Only ~66% of First Nations reserves have 50/10 Mbps service. CRTC now requires community consent for funded builds.</a:t>
            </a:r>
            <a:endParaRPr lang="en-US" sz="1200" dirty="0"/>
          </a:p>
        </p:txBody>
      </p:sp>
      <p:sp>
        <p:nvSpPr>
          <p:cNvPr id="25" name="Text 23"/>
          <p:cNvSpPr/>
          <p:nvPr/>
        </p:nvSpPr>
        <p:spPr>
          <a:xfrm>
            <a:off x="685800" y="5998464"/>
            <a:ext cx="10789920" cy="274320"/>
          </a:xfrm>
          <a:prstGeom prst="rect">
            <a:avLst/>
          </a:prstGeom>
          <a:noFill/>
          <a:ln/>
        </p:spPr>
        <p:txBody>
          <a:bodyPr wrap="square" rtlCol="0" anchor="ctr"/>
          <a:lstStyle/>
          <a:p>
            <a:pPr indent="0" marL="0">
              <a:buNone/>
            </a:pPr>
            <a:r>
              <a:rPr lang="en-US" sz="1100" i="1" dirty="0">
                <a:solidFill>
                  <a:srgbClr val="0E7C7B"/>
                </a:solidFill>
                <a:latin typeface="Calibri" pitchFamily="34" charset="0"/>
                <a:ea typeface="Calibri" pitchFamily="34" charset="-122"/>
                <a:cs typeface="Calibri" pitchFamily="34" charset="-120"/>
              </a:rPr>
              <a:t>Why it matters: regulatory obligation and a brand opportunity.</a:t>
            </a:r>
            <a:endParaRPr lang="en-US" sz="1100" dirty="0"/>
          </a:p>
        </p:txBody>
      </p:sp>
      <p:sp>
        <p:nvSpPr>
          <p:cNvPr id="26" name="Text 24"/>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27"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28" name="Text 25"/>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BCE 2024 Annual Financial Report</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O-RAN Alliance security update 2025</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CRTC Indigenous connectivity</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Samsung–TELUS AI RIC</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Bill C-8 (telecom cyber)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THE THESIS AT A GLANCE</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Three control layers around Bell’s 6G-ready network</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365760"/>
          </a:xfrm>
          <a:prstGeom prst="rect">
            <a:avLst/>
          </a:prstGeom>
          <a:noFill/>
          <a:ln/>
        </p:spPr>
        <p:txBody>
          <a:bodyPr wrap="square"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Each layer answers one practical question Bell already asks today.</a:t>
            </a:r>
            <a:endParaRPr lang="en-US" sz="1350" dirty="0"/>
          </a:p>
        </p:txBody>
      </p:sp>
      <p:sp>
        <p:nvSpPr>
          <p:cNvPr id="6" name="Shape 4"/>
          <p:cNvSpPr/>
          <p:nvPr/>
        </p:nvSpPr>
        <p:spPr>
          <a:xfrm>
            <a:off x="4572000" y="3200400"/>
            <a:ext cx="3044952" cy="914400"/>
          </a:xfrm>
          <a:prstGeom prst="roundRect">
            <a:avLst>
              <a:gd name="adj" fmla="val 50000"/>
            </a:avLst>
          </a:prstGeom>
          <a:solidFill>
            <a:srgbClr val="0B2545"/>
          </a:solidFill>
          <a:ln w="12700">
            <a:solidFill>
              <a:srgbClr val="0B2545"/>
            </a:solidFill>
            <a:prstDash val="solid"/>
          </a:ln>
        </p:spPr>
      </p:sp>
      <p:sp>
        <p:nvSpPr>
          <p:cNvPr id="7" name="Text 5"/>
          <p:cNvSpPr/>
          <p:nvPr/>
        </p:nvSpPr>
        <p:spPr>
          <a:xfrm>
            <a:off x="4572000" y="3200400"/>
            <a:ext cx="3044952" cy="914400"/>
          </a:xfrm>
          <a:prstGeom prst="rect">
            <a:avLst/>
          </a:prstGeom>
          <a:noFill/>
          <a:ln/>
        </p:spPr>
        <p:txBody>
          <a:bodyPr wrap="square" rtlCol="0" anchor="ctr"/>
          <a:lstStyle/>
          <a:p>
            <a:pPr algn="ctr" indent="0" marL="0">
              <a:lnSpc>
                <a:spcPct val="110000"/>
              </a:lnSpc>
              <a:buNone/>
            </a:pPr>
            <a:r>
              <a:rPr lang="en-US" sz="1600" b="1" dirty="0">
                <a:solidFill>
                  <a:srgbClr val="FFFFFF"/>
                </a:solidFill>
                <a:latin typeface="Trebuchet MS" pitchFamily="34" charset="0"/>
                <a:ea typeface="Trebuchet MS" pitchFamily="34" charset="-122"/>
                <a:cs typeface="Trebuchet MS" pitchFamily="34" charset="-120"/>
              </a:rPr>
              <a:t>Bell’s 6G-ready</a:t>
            </a:r>
            <a:endParaRPr lang="en-US" sz="1600" dirty="0"/>
          </a:p>
          <a:p>
            <a:pPr algn="ctr" indent="0" marL="0">
              <a:lnSpc>
                <a:spcPct val="110000"/>
              </a:lnSpc>
              <a:buNone/>
            </a:pPr>
            <a:r>
              <a:rPr lang="en-US" sz="1600" b="1" dirty="0">
                <a:solidFill>
                  <a:srgbClr val="FFFFFF"/>
                </a:solidFill>
                <a:latin typeface="Trebuchet MS" pitchFamily="34" charset="0"/>
                <a:ea typeface="Trebuchet MS" pitchFamily="34" charset="-122"/>
                <a:cs typeface="Trebuchet MS" pitchFamily="34" charset="-120"/>
              </a:rPr>
              <a:t>network</a:t>
            </a:r>
            <a:endParaRPr lang="en-US" sz="1600" dirty="0"/>
          </a:p>
        </p:txBody>
      </p:sp>
      <p:sp>
        <p:nvSpPr>
          <p:cNvPr id="8" name="Shape 6"/>
          <p:cNvSpPr/>
          <p:nvPr/>
        </p:nvSpPr>
        <p:spPr>
          <a:xfrm>
            <a:off x="457200" y="2194560"/>
            <a:ext cx="3474720" cy="1691640"/>
          </a:xfrm>
          <a:prstGeom prst="rect">
            <a:avLst/>
          </a:prstGeom>
          <a:solidFill>
            <a:srgbClr val="F4F7FB"/>
          </a:solidFill>
          <a:ln w="9525">
            <a:solidFill>
              <a:srgbClr val="E5EAF1"/>
            </a:solidFill>
            <a:prstDash val="solid"/>
          </a:ln>
        </p:spPr>
      </p:sp>
      <p:sp>
        <p:nvSpPr>
          <p:cNvPr id="9" name="Shape 7"/>
          <p:cNvSpPr/>
          <p:nvPr/>
        </p:nvSpPr>
        <p:spPr>
          <a:xfrm>
            <a:off x="457200" y="2194560"/>
            <a:ext cx="3474720" cy="73152"/>
          </a:xfrm>
          <a:prstGeom prst="rect">
            <a:avLst/>
          </a:prstGeom>
          <a:solidFill>
            <a:srgbClr val="1B9AAA"/>
          </a:solidFill>
          <a:ln w="12700">
            <a:solidFill>
              <a:srgbClr val="1B9AAA"/>
            </a:solidFill>
            <a:prstDash val="solid"/>
          </a:ln>
        </p:spPr>
      </p:sp>
      <p:sp>
        <p:nvSpPr>
          <p:cNvPr id="10" name="Text 8"/>
          <p:cNvSpPr/>
          <p:nvPr/>
        </p:nvSpPr>
        <p:spPr>
          <a:xfrm>
            <a:off x="685800" y="2377440"/>
            <a:ext cx="3017520" cy="365760"/>
          </a:xfrm>
          <a:prstGeom prst="rect">
            <a:avLst/>
          </a:prstGeom>
          <a:noFill/>
          <a:ln/>
        </p:spPr>
        <p:txBody>
          <a:bodyPr wrap="square" rtlCol="0" anchor="ctr"/>
          <a:lstStyle/>
          <a:p>
            <a:pPr indent="0" marL="0">
              <a:buNone/>
            </a:pPr>
            <a:r>
              <a:rPr lang="en-US" sz="1800" b="1" dirty="0">
                <a:solidFill>
                  <a:srgbClr val="0E7C7B"/>
                </a:solidFill>
                <a:latin typeface="Trebuchet MS" pitchFamily="34" charset="0"/>
                <a:ea typeface="Trebuchet MS" pitchFamily="34" charset="-122"/>
                <a:cs typeface="Trebuchet MS" pitchFamily="34" charset="-120"/>
              </a:rPr>
              <a:t>GAPF</a:t>
            </a:r>
            <a:endParaRPr lang="en-US" sz="1800" dirty="0"/>
          </a:p>
        </p:txBody>
      </p:sp>
      <p:sp>
        <p:nvSpPr>
          <p:cNvPr id="11" name="Text 9"/>
          <p:cNvSpPr/>
          <p:nvPr/>
        </p:nvSpPr>
        <p:spPr>
          <a:xfrm>
            <a:off x="685800" y="2743200"/>
            <a:ext cx="3017520" cy="274320"/>
          </a:xfrm>
          <a:prstGeom prst="rect">
            <a:avLst/>
          </a:prstGeom>
          <a:noFill/>
          <a:ln/>
        </p:spPr>
        <p:txBody>
          <a:bodyPr wrap="square"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The device layer</a:t>
            </a:r>
            <a:endParaRPr lang="en-US" sz="1200" dirty="0"/>
          </a:p>
        </p:txBody>
      </p:sp>
      <p:sp>
        <p:nvSpPr>
          <p:cNvPr id="12" name="Text 10"/>
          <p:cNvSpPr/>
          <p:nvPr/>
        </p:nvSpPr>
        <p:spPr>
          <a:xfrm>
            <a:off x="685800" y="3063240"/>
            <a:ext cx="3017520" cy="77724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How do we keep millions of remote devices alive on tiny batteries?</a:t>
            </a:r>
            <a:endParaRPr lang="en-US" sz="1250" dirty="0"/>
          </a:p>
        </p:txBody>
      </p:sp>
      <p:sp>
        <p:nvSpPr>
          <p:cNvPr id="13" name="Shape 11"/>
          <p:cNvSpPr/>
          <p:nvPr/>
        </p:nvSpPr>
        <p:spPr>
          <a:xfrm>
            <a:off x="4572000" y="4937760"/>
            <a:ext cx="3474720" cy="1691640"/>
          </a:xfrm>
          <a:prstGeom prst="rect">
            <a:avLst/>
          </a:prstGeom>
          <a:solidFill>
            <a:srgbClr val="F4F7FB"/>
          </a:solidFill>
          <a:ln w="9525">
            <a:solidFill>
              <a:srgbClr val="E5EAF1"/>
            </a:solidFill>
            <a:prstDash val="solid"/>
          </a:ln>
        </p:spPr>
      </p:sp>
      <p:sp>
        <p:nvSpPr>
          <p:cNvPr id="14" name="Shape 12"/>
          <p:cNvSpPr/>
          <p:nvPr/>
        </p:nvSpPr>
        <p:spPr>
          <a:xfrm>
            <a:off x="4572000" y="4937760"/>
            <a:ext cx="3474720" cy="73152"/>
          </a:xfrm>
          <a:prstGeom prst="rect">
            <a:avLst/>
          </a:prstGeom>
          <a:solidFill>
            <a:srgbClr val="1B9AAA"/>
          </a:solidFill>
          <a:ln w="12700">
            <a:solidFill>
              <a:srgbClr val="1B9AAA"/>
            </a:solidFill>
            <a:prstDash val="solid"/>
          </a:ln>
        </p:spPr>
      </p:sp>
      <p:sp>
        <p:nvSpPr>
          <p:cNvPr id="15" name="Text 13"/>
          <p:cNvSpPr/>
          <p:nvPr/>
        </p:nvSpPr>
        <p:spPr>
          <a:xfrm>
            <a:off x="4800600" y="5120640"/>
            <a:ext cx="3017520" cy="365760"/>
          </a:xfrm>
          <a:prstGeom prst="rect">
            <a:avLst/>
          </a:prstGeom>
          <a:noFill/>
          <a:ln/>
        </p:spPr>
        <p:txBody>
          <a:bodyPr wrap="square" rtlCol="0" anchor="ctr"/>
          <a:lstStyle/>
          <a:p>
            <a:pPr indent="0" marL="0">
              <a:buNone/>
            </a:pPr>
            <a:r>
              <a:rPr lang="en-US" sz="1800" b="1" dirty="0">
                <a:solidFill>
                  <a:srgbClr val="0E7C7B"/>
                </a:solidFill>
                <a:latin typeface="Trebuchet MS" pitchFamily="34" charset="0"/>
                <a:ea typeface="Trebuchet MS" pitchFamily="34" charset="-122"/>
                <a:cs typeface="Trebuchet MS" pitchFamily="34" charset="-120"/>
              </a:rPr>
              <a:t>CALASH</a:t>
            </a:r>
            <a:endParaRPr lang="en-US" sz="1800" dirty="0"/>
          </a:p>
        </p:txBody>
      </p:sp>
      <p:sp>
        <p:nvSpPr>
          <p:cNvPr id="16" name="Text 14"/>
          <p:cNvSpPr/>
          <p:nvPr/>
        </p:nvSpPr>
        <p:spPr>
          <a:xfrm>
            <a:off x="4800600" y="5486400"/>
            <a:ext cx="3017520" cy="274320"/>
          </a:xfrm>
          <a:prstGeom prst="rect">
            <a:avLst/>
          </a:prstGeom>
          <a:noFill/>
          <a:ln/>
        </p:spPr>
        <p:txBody>
          <a:bodyPr wrap="square"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The routing layer</a:t>
            </a:r>
            <a:endParaRPr lang="en-US" sz="1200" dirty="0"/>
          </a:p>
        </p:txBody>
      </p:sp>
      <p:sp>
        <p:nvSpPr>
          <p:cNvPr id="17" name="Text 15"/>
          <p:cNvSpPr/>
          <p:nvPr/>
        </p:nvSpPr>
        <p:spPr>
          <a:xfrm>
            <a:off x="4800600" y="5806440"/>
            <a:ext cx="3017520" cy="77724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How do we move data in ways that cut energy and lifecycle carbon?</a:t>
            </a:r>
            <a:endParaRPr lang="en-US" sz="1250" dirty="0"/>
          </a:p>
        </p:txBody>
      </p:sp>
      <p:sp>
        <p:nvSpPr>
          <p:cNvPr id="18" name="Shape 16"/>
          <p:cNvSpPr/>
          <p:nvPr/>
        </p:nvSpPr>
        <p:spPr>
          <a:xfrm>
            <a:off x="8046720" y="2194560"/>
            <a:ext cx="3474720" cy="1691640"/>
          </a:xfrm>
          <a:prstGeom prst="rect">
            <a:avLst/>
          </a:prstGeom>
          <a:solidFill>
            <a:srgbClr val="F4F7FB"/>
          </a:solidFill>
          <a:ln w="9525">
            <a:solidFill>
              <a:srgbClr val="E5EAF1"/>
            </a:solidFill>
            <a:prstDash val="solid"/>
          </a:ln>
        </p:spPr>
      </p:sp>
      <p:sp>
        <p:nvSpPr>
          <p:cNvPr id="19" name="Shape 17"/>
          <p:cNvSpPr/>
          <p:nvPr/>
        </p:nvSpPr>
        <p:spPr>
          <a:xfrm>
            <a:off x="8046720" y="2194560"/>
            <a:ext cx="3474720" cy="73152"/>
          </a:xfrm>
          <a:prstGeom prst="rect">
            <a:avLst/>
          </a:prstGeom>
          <a:solidFill>
            <a:srgbClr val="1B9AAA"/>
          </a:solidFill>
          <a:ln w="12700">
            <a:solidFill>
              <a:srgbClr val="1B9AAA"/>
            </a:solidFill>
            <a:prstDash val="solid"/>
          </a:ln>
        </p:spPr>
      </p:sp>
      <p:sp>
        <p:nvSpPr>
          <p:cNvPr id="20" name="Text 18"/>
          <p:cNvSpPr/>
          <p:nvPr/>
        </p:nvSpPr>
        <p:spPr>
          <a:xfrm>
            <a:off x="8275320" y="2377440"/>
            <a:ext cx="3017520" cy="365760"/>
          </a:xfrm>
          <a:prstGeom prst="rect">
            <a:avLst/>
          </a:prstGeom>
          <a:noFill/>
          <a:ln/>
        </p:spPr>
        <p:txBody>
          <a:bodyPr wrap="square" rtlCol="0" anchor="ctr"/>
          <a:lstStyle/>
          <a:p>
            <a:pPr indent="0" marL="0">
              <a:buNone/>
            </a:pPr>
            <a:r>
              <a:rPr lang="en-US" sz="1800" b="1" dirty="0">
                <a:solidFill>
                  <a:srgbClr val="0E7C7B"/>
                </a:solidFill>
                <a:latin typeface="Trebuchet MS" pitchFamily="34" charset="0"/>
                <a:ea typeface="Trebuchet MS" pitchFamily="34" charset="-122"/>
                <a:cs typeface="Trebuchet MS" pitchFamily="34" charset="-120"/>
              </a:rPr>
              <a:t>CASTER-ZT</a:t>
            </a:r>
            <a:endParaRPr lang="en-US" sz="1800" dirty="0"/>
          </a:p>
        </p:txBody>
      </p:sp>
      <p:sp>
        <p:nvSpPr>
          <p:cNvPr id="21" name="Text 19"/>
          <p:cNvSpPr/>
          <p:nvPr/>
        </p:nvSpPr>
        <p:spPr>
          <a:xfrm>
            <a:off x="8275320" y="2743200"/>
            <a:ext cx="3017520" cy="274320"/>
          </a:xfrm>
          <a:prstGeom prst="rect">
            <a:avLst/>
          </a:prstGeom>
          <a:noFill/>
          <a:ln/>
        </p:spPr>
        <p:txBody>
          <a:bodyPr wrap="square"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The safety layer</a:t>
            </a:r>
            <a:endParaRPr lang="en-US" sz="1200" dirty="0"/>
          </a:p>
        </p:txBody>
      </p:sp>
      <p:sp>
        <p:nvSpPr>
          <p:cNvPr id="22" name="Text 20"/>
          <p:cNvSpPr/>
          <p:nvPr/>
        </p:nvSpPr>
        <p:spPr>
          <a:xfrm>
            <a:off x="8275320" y="3063240"/>
            <a:ext cx="3017520" cy="77724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How do we let the network heal itself — safely?</a:t>
            </a:r>
            <a:endParaRPr lang="en-US" sz="1250" dirty="0"/>
          </a:p>
        </p:txBody>
      </p:sp>
      <p:sp>
        <p:nvSpPr>
          <p:cNvPr id="23" name="Shape 21"/>
          <p:cNvSpPr/>
          <p:nvPr/>
        </p:nvSpPr>
        <p:spPr>
          <a:xfrm>
            <a:off x="3931920" y="3044952"/>
            <a:ext cx="640080" cy="457200"/>
          </a:xfrm>
          <a:prstGeom prst="line">
            <a:avLst/>
          </a:prstGeom>
          <a:noFill/>
          <a:ln w="19050">
            <a:solidFill>
              <a:srgbClr val="1B9AAA"/>
            </a:solidFill>
            <a:prstDash val="dash"/>
          </a:ln>
        </p:spPr>
      </p:sp>
      <p:sp>
        <p:nvSpPr>
          <p:cNvPr id="24" name="Shape 22"/>
          <p:cNvSpPr/>
          <p:nvPr/>
        </p:nvSpPr>
        <p:spPr>
          <a:xfrm>
            <a:off x="7616952" y="3502152"/>
            <a:ext cx="429768" cy="-457200"/>
          </a:xfrm>
          <a:prstGeom prst="line">
            <a:avLst/>
          </a:prstGeom>
          <a:noFill/>
          <a:ln w="19050">
            <a:solidFill>
              <a:srgbClr val="1B9AAA"/>
            </a:solidFill>
            <a:prstDash val="dash"/>
          </a:ln>
        </p:spPr>
      </p:sp>
      <p:sp>
        <p:nvSpPr>
          <p:cNvPr id="25" name="Shape 23"/>
          <p:cNvSpPr/>
          <p:nvPr/>
        </p:nvSpPr>
        <p:spPr>
          <a:xfrm>
            <a:off x="6089904" y="4114800"/>
            <a:ext cx="0" cy="822960"/>
          </a:xfrm>
          <a:prstGeom prst="line">
            <a:avLst/>
          </a:prstGeom>
          <a:noFill/>
          <a:ln w="19050">
            <a:solidFill>
              <a:srgbClr val="1B9AAA"/>
            </a:solidFill>
            <a:prstDash val="dash"/>
          </a:ln>
        </p:spPr>
      </p:sp>
      <p:sp>
        <p:nvSpPr>
          <p:cNvPr id="26" name="Text 24"/>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27"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LAYER 1 OF 3 · THE DEVICE LAYER</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GAPF: keep remote devices alive longer on tiny batteries</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Shape 3"/>
          <p:cNvSpPr/>
          <p:nvPr/>
        </p:nvSpPr>
        <p:spPr>
          <a:xfrm>
            <a:off x="457200" y="1600200"/>
            <a:ext cx="5029200" cy="4297680"/>
          </a:xfrm>
          <a:prstGeom prst="rect">
            <a:avLst/>
          </a:prstGeom>
          <a:solidFill>
            <a:srgbClr val="F4F7FB"/>
          </a:solidFill>
          <a:ln w="9525">
            <a:solidFill>
              <a:srgbClr val="E5EAF1"/>
            </a:solidFill>
            <a:prstDash val="solid"/>
          </a:ln>
        </p:spPr>
      </p:sp>
      <p:sp>
        <p:nvSpPr>
          <p:cNvPr id="6" name="Shape 4"/>
          <p:cNvSpPr/>
          <p:nvPr/>
        </p:nvSpPr>
        <p:spPr>
          <a:xfrm>
            <a:off x="457200" y="1600200"/>
            <a:ext cx="5029200" cy="73152"/>
          </a:xfrm>
          <a:prstGeom prst="rect">
            <a:avLst/>
          </a:prstGeom>
          <a:solidFill>
            <a:srgbClr val="1B9AAA"/>
          </a:solidFill>
          <a:ln w="12700">
            <a:solidFill>
              <a:srgbClr val="1B9AAA"/>
            </a:solidFill>
            <a:prstDash val="solid"/>
          </a:ln>
        </p:spPr>
      </p:sp>
      <p:sp>
        <p:nvSpPr>
          <p:cNvPr id="7" name="Text 5"/>
          <p:cNvSpPr/>
          <p:nvPr/>
        </p:nvSpPr>
        <p:spPr>
          <a:xfrm>
            <a:off x="731520" y="1737360"/>
            <a:ext cx="4480560" cy="274320"/>
          </a:xfrm>
          <a:prstGeom prst="rect">
            <a:avLst/>
          </a:prstGeom>
          <a:noFill/>
          <a:ln/>
        </p:spPr>
        <p:txBody>
          <a:bodyPr wrap="square" rtlCol="0" anchor="ctr"/>
          <a:lstStyle/>
          <a:p>
            <a:pPr indent="0" marL="0">
              <a:buNone/>
            </a:pPr>
            <a:r>
              <a:rPr lang="en-US" sz="1050" b="1" spc="200" kern="0" dirty="0">
                <a:solidFill>
                  <a:srgbClr val="1B9AAA"/>
                </a:solidFill>
                <a:latin typeface="Trebuchet MS" pitchFamily="34" charset="0"/>
                <a:ea typeface="Trebuchet MS" pitchFamily="34" charset="-122"/>
                <a:cs typeface="Trebuchet MS" pitchFamily="34" charset="-120"/>
              </a:rPr>
              <a:t>THESIS RESULT</a:t>
            </a:r>
            <a:endParaRPr lang="en-US" sz="1050" dirty="0"/>
          </a:p>
        </p:txBody>
      </p:sp>
      <p:sp>
        <p:nvSpPr>
          <p:cNvPr id="8" name="Text 6"/>
          <p:cNvSpPr/>
          <p:nvPr/>
        </p:nvSpPr>
        <p:spPr>
          <a:xfrm>
            <a:off x="731520" y="2011680"/>
            <a:ext cx="4480560" cy="640080"/>
          </a:xfrm>
          <a:prstGeom prst="rect">
            <a:avLst/>
          </a:prstGeom>
          <a:noFill/>
          <a:ln/>
        </p:spPr>
        <p:txBody>
          <a:bodyPr wrap="square" rtlCol="0" anchor="ctr"/>
          <a:lstStyle/>
          <a:p>
            <a:pPr indent="0" marL="0">
              <a:lnSpc>
                <a:spcPct val="130000"/>
              </a:lnSpc>
              <a:buNone/>
            </a:pPr>
            <a:r>
              <a:rPr lang="en-US" sz="1250" i="1" dirty="0">
                <a:solidFill>
                  <a:srgbClr val="24314A"/>
                </a:solidFill>
                <a:latin typeface="Calibri" pitchFamily="34" charset="0"/>
                <a:ea typeface="Calibri" pitchFamily="34" charset="-122"/>
                <a:cs typeface="Calibri" pitchFamily="34" charset="-120"/>
              </a:rPr>
              <a:t>A tiny on-device routing brain (1,473 parameters) trained with multi-agent reinforcement learning.</a:t>
            </a:r>
            <a:endParaRPr lang="en-US" sz="1250" dirty="0"/>
          </a:p>
        </p:txBody>
      </p:sp>
      <p:sp>
        <p:nvSpPr>
          <p:cNvPr id="9" name="Text 7"/>
          <p:cNvSpPr/>
          <p:nvPr/>
        </p:nvSpPr>
        <p:spPr>
          <a:xfrm>
            <a:off x="731520" y="2788920"/>
            <a:ext cx="2194560" cy="640080"/>
          </a:xfrm>
          <a:prstGeom prst="rect">
            <a:avLst/>
          </a:prstGeom>
          <a:noFill/>
          <a:ln/>
        </p:spPr>
        <p:txBody>
          <a:bodyPr wrap="square" rtlCol="0" anchor="ctr"/>
          <a:lstStyle/>
          <a:p>
            <a:pPr indent="0" marL="0">
              <a:buNone/>
            </a:pPr>
            <a:r>
              <a:rPr lang="en-US" sz="3000" b="1" dirty="0">
                <a:solidFill>
                  <a:srgbClr val="0E7C7B"/>
                </a:solidFill>
                <a:latin typeface="Trebuchet MS" pitchFamily="34" charset="0"/>
                <a:ea typeface="Trebuchet MS" pitchFamily="34" charset="-122"/>
                <a:cs typeface="Trebuchet MS" pitchFamily="34" charset="-120"/>
              </a:rPr>
              <a:t>98%</a:t>
            </a:r>
            <a:endParaRPr lang="en-US" sz="3000" dirty="0"/>
          </a:p>
        </p:txBody>
      </p:sp>
      <p:sp>
        <p:nvSpPr>
          <p:cNvPr id="10" name="Text 8"/>
          <p:cNvSpPr/>
          <p:nvPr/>
        </p:nvSpPr>
        <p:spPr>
          <a:xfrm>
            <a:off x="731520" y="3502152"/>
            <a:ext cx="2194560" cy="50292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of messages delivered</a:t>
            </a:r>
            <a:endParaRPr lang="en-US" sz="1150" dirty="0"/>
          </a:p>
        </p:txBody>
      </p:sp>
      <p:sp>
        <p:nvSpPr>
          <p:cNvPr id="11" name="Text 9"/>
          <p:cNvSpPr/>
          <p:nvPr/>
        </p:nvSpPr>
        <p:spPr>
          <a:xfrm>
            <a:off x="3063240" y="2788920"/>
            <a:ext cx="2194560" cy="640080"/>
          </a:xfrm>
          <a:prstGeom prst="rect">
            <a:avLst/>
          </a:prstGeom>
          <a:noFill/>
          <a:ln/>
        </p:spPr>
        <p:txBody>
          <a:bodyPr wrap="square" rtlCol="0" anchor="ctr"/>
          <a:lstStyle/>
          <a:p>
            <a:pPr indent="0" marL="0">
              <a:buNone/>
            </a:pPr>
            <a:r>
              <a:rPr lang="en-US" sz="3000" b="1" dirty="0">
                <a:solidFill>
                  <a:srgbClr val="0E7C7B"/>
                </a:solidFill>
                <a:latin typeface="Trebuchet MS" pitchFamily="34" charset="0"/>
                <a:ea typeface="Trebuchet MS" pitchFamily="34" charset="-122"/>
                <a:cs typeface="Trebuchet MS" pitchFamily="34" charset="-120"/>
              </a:rPr>
              <a:t>2–3.5×</a:t>
            </a:r>
            <a:endParaRPr lang="en-US" sz="3000" dirty="0"/>
          </a:p>
        </p:txBody>
      </p:sp>
      <p:sp>
        <p:nvSpPr>
          <p:cNvPr id="12" name="Text 10"/>
          <p:cNvSpPr/>
          <p:nvPr/>
        </p:nvSpPr>
        <p:spPr>
          <a:xfrm>
            <a:off x="3063240" y="3502152"/>
            <a:ext cx="2194560" cy="50292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less energy used</a:t>
            </a:r>
            <a:endParaRPr lang="en-US" sz="1150" dirty="0"/>
          </a:p>
        </p:txBody>
      </p:sp>
      <p:sp>
        <p:nvSpPr>
          <p:cNvPr id="13" name="Text 11"/>
          <p:cNvSpPr/>
          <p:nvPr/>
        </p:nvSpPr>
        <p:spPr>
          <a:xfrm>
            <a:off x="731520" y="4206240"/>
            <a:ext cx="2194560" cy="640080"/>
          </a:xfrm>
          <a:prstGeom prst="rect">
            <a:avLst/>
          </a:prstGeom>
          <a:noFill/>
          <a:ln/>
        </p:spPr>
        <p:txBody>
          <a:bodyPr wrap="square" rtlCol="0" anchor="ctr"/>
          <a:lstStyle/>
          <a:p>
            <a:pPr indent="0" marL="0">
              <a:buNone/>
            </a:pPr>
            <a:r>
              <a:rPr lang="en-US" sz="3000" b="1" dirty="0">
                <a:solidFill>
                  <a:srgbClr val="0E7C7B"/>
                </a:solidFill>
                <a:latin typeface="Trebuchet MS" pitchFamily="34" charset="0"/>
                <a:ea typeface="Trebuchet MS" pitchFamily="34" charset="-122"/>
                <a:cs typeface="Trebuchet MS" pitchFamily="34" charset="-120"/>
              </a:rPr>
              <a:t>13×</a:t>
            </a:r>
            <a:endParaRPr lang="en-US" sz="3000" dirty="0"/>
          </a:p>
        </p:txBody>
      </p:sp>
      <p:sp>
        <p:nvSpPr>
          <p:cNvPr id="14" name="Text 12"/>
          <p:cNvSpPr/>
          <p:nvPr/>
        </p:nvSpPr>
        <p:spPr>
          <a:xfrm>
            <a:off x="731520" y="4919472"/>
            <a:ext cx="2194560" cy="50292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less memory needed</a:t>
            </a:r>
            <a:endParaRPr lang="en-US" sz="1150" dirty="0"/>
          </a:p>
        </p:txBody>
      </p:sp>
      <p:sp>
        <p:nvSpPr>
          <p:cNvPr id="15" name="Text 13"/>
          <p:cNvSpPr/>
          <p:nvPr/>
        </p:nvSpPr>
        <p:spPr>
          <a:xfrm>
            <a:off x="3063240" y="4206240"/>
            <a:ext cx="2194560" cy="640080"/>
          </a:xfrm>
          <a:prstGeom prst="rect">
            <a:avLst/>
          </a:prstGeom>
          <a:noFill/>
          <a:ln/>
        </p:spPr>
        <p:txBody>
          <a:bodyPr wrap="square" rtlCol="0" anchor="ctr"/>
          <a:lstStyle/>
          <a:p>
            <a:pPr indent="0" marL="0">
              <a:buNone/>
            </a:pPr>
            <a:r>
              <a:rPr lang="en-US" sz="3000" b="1" dirty="0">
                <a:solidFill>
                  <a:srgbClr val="0E7C7B"/>
                </a:solidFill>
                <a:latin typeface="Trebuchet MS" pitchFamily="34" charset="0"/>
                <a:ea typeface="Trebuchet MS" pitchFamily="34" charset="-122"/>
                <a:cs typeface="Trebuchet MS" pitchFamily="34" charset="-120"/>
              </a:rPr>
              <a:t>Sub-1 W</a:t>
            </a:r>
            <a:endParaRPr lang="en-US" sz="3000" dirty="0"/>
          </a:p>
        </p:txBody>
      </p:sp>
      <p:sp>
        <p:nvSpPr>
          <p:cNvPr id="16" name="Text 14"/>
          <p:cNvSpPr/>
          <p:nvPr/>
        </p:nvSpPr>
        <p:spPr>
          <a:xfrm>
            <a:off x="3063240" y="4919472"/>
            <a:ext cx="2194560" cy="50292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runs on a tiny IoT chip</a:t>
            </a:r>
            <a:endParaRPr lang="en-US" sz="1150" dirty="0"/>
          </a:p>
        </p:txBody>
      </p:sp>
      <p:sp>
        <p:nvSpPr>
          <p:cNvPr id="17" name="Text 15"/>
          <p:cNvSpPr/>
          <p:nvPr/>
        </p:nvSpPr>
        <p:spPr>
          <a:xfrm>
            <a:off x="5760720" y="1691640"/>
            <a:ext cx="5943600" cy="365760"/>
          </a:xfrm>
          <a:prstGeom prst="rect">
            <a:avLst/>
          </a:prstGeom>
          <a:noFill/>
          <a:ln/>
        </p:spPr>
        <p:txBody>
          <a:bodyPr wrap="square" rtlCol="0" anchor="ctr"/>
          <a:lstStyle/>
          <a:p>
            <a:pPr indent="0" marL="0">
              <a:buNone/>
            </a:pPr>
            <a:r>
              <a:rPr lang="en-US" sz="1600" b="1" dirty="0">
                <a:solidFill>
                  <a:srgbClr val="0B2545"/>
                </a:solidFill>
                <a:latin typeface="Trebuchet MS" pitchFamily="34" charset="0"/>
                <a:ea typeface="Trebuchet MS" pitchFamily="34" charset="-122"/>
                <a:cs typeface="Trebuchet MS" pitchFamily="34" charset="-120"/>
              </a:rPr>
              <a:t>What Bell can do with this</a:t>
            </a:r>
            <a:endParaRPr lang="en-US" sz="1600" dirty="0"/>
          </a:p>
        </p:txBody>
      </p:sp>
      <p:sp>
        <p:nvSpPr>
          <p:cNvPr id="18" name="Shape 16"/>
          <p:cNvSpPr/>
          <p:nvPr/>
        </p:nvSpPr>
        <p:spPr>
          <a:xfrm>
            <a:off x="5760720" y="2286000"/>
            <a:ext cx="128016" cy="128016"/>
          </a:xfrm>
          <a:prstGeom prst="ellipse">
            <a:avLst/>
          </a:prstGeom>
          <a:solidFill>
            <a:srgbClr val="0E7C7B"/>
          </a:solidFill>
          <a:ln w="12700">
            <a:solidFill>
              <a:srgbClr val="0E7C7B"/>
            </a:solidFill>
            <a:prstDash val="solid"/>
          </a:ln>
        </p:spPr>
      </p:sp>
      <p:sp>
        <p:nvSpPr>
          <p:cNvPr id="19" name="Text 17"/>
          <p:cNvSpPr/>
          <p:nvPr/>
        </p:nvSpPr>
        <p:spPr>
          <a:xfrm>
            <a:off x="6035040" y="219456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Longer-lasting field sensors</a:t>
            </a:r>
            <a:endParaRPr lang="en-US" sz="1350" dirty="0"/>
          </a:p>
        </p:txBody>
      </p:sp>
      <p:sp>
        <p:nvSpPr>
          <p:cNvPr id="20" name="Text 18"/>
          <p:cNvSpPr/>
          <p:nvPr/>
        </p:nvSpPr>
        <p:spPr>
          <a:xfrm>
            <a:off x="6035040" y="251460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Smart-meter, wildfire, flood, and farm sensors run years longer between battery swaps.</a:t>
            </a:r>
            <a:endParaRPr lang="en-US" sz="1200" dirty="0"/>
          </a:p>
        </p:txBody>
      </p:sp>
      <p:sp>
        <p:nvSpPr>
          <p:cNvPr id="21" name="Shape 19"/>
          <p:cNvSpPr/>
          <p:nvPr/>
        </p:nvSpPr>
        <p:spPr>
          <a:xfrm>
            <a:off x="5760720" y="3154680"/>
            <a:ext cx="128016" cy="128016"/>
          </a:xfrm>
          <a:prstGeom prst="ellipse">
            <a:avLst/>
          </a:prstGeom>
          <a:solidFill>
            <a:srgbClr val="0E7C7B"/>
          </a:solidFill>
          <a:ln w="12700">
            <a:solidFill>
              <a:srgbClr val="0E7C7B"/>
            </a:solidFill>
            <a:prstDash val="solid"/>
          </a:ln>
        </p:spPr>
      </p:sp>
      <p:sp>
        <p:nvSpPr>
          <p:cNvPr id="22" name="Text 20"/>
          <p:cNvSpPr/>
          <p:nvPr/>
        </p:nvSpPr>
        <p:spPr>
          <a:xfrm>
            <a:off x="6035040" y="306324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Fewer truck rolls</a:t>
            </a:r>
            <a:endParaRPr lang="en-US" sz="1350" dirty="0"/>
          </a:p>
        </p:txBody>
      </p:sp>
      <p:sp>
        <p:nvSpPr>
          <p:cNvPr id="23" name="Text 21"/>
          <p:cNvSpPr/>
          <p:nvPr/>
        </p:nvSpPr>
        <p:spPr>
          <a:xfrm>
            <a:off x="6035040" y="338328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Crews drive into the field only when actually needed — lower operating cost, lower fuel emissions.</a:t>
            </a:r>
            <a:endParaRPr lang="en-US" sz="1200" dirty="0"/>
          </a:p>
        </p:txBody>
      </p:sp>
      <p:sp>
        <p:nvSpPr>
          <p:cNvPr id="24" name="Shape 22"/>
          <p:cNvSpPr/>
          <p:nvPr/>
        </p:nvSpPr>
        <p:spPr>
          <a:xfrm>
            <a:off x="5760720" y="4023360"/>
            <a:ext cx="128016" cy="128016"/>
          </a:xfrm>
          <a:prstGeom prst="ellipse">
            <a:avLst/>
          </a:prstGeom>
          <a:solidFill>
            <a:srgbClr val="0E7C7B"/>
          </a:solidFill>
          <a:ln w="12700">
            <a:solidFill>
              <a:srgbClr val="0E7C7B"/>
            </a:solidFill>
            <a:prstDash val="solid"/>
          </a:ln>
        </p:spPr>
      </p:sp>
      <p:sp>
        <p:nvSpPr>
          <p:cNvPr id="25" name="Text 23"/>
          <p:cNvSpPr/>
          <p:nvPr/>
        </p:nvSpPr>
        <p:spPr>
          <a:xfrm>
            <a:off x="6035040" y="393192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Resilient public-safety meshes</a:t>
            </a:r>
            <a:endParaRPr lang="en-US" sz="1350" dirty="0"/>
          </a:p>
        </p:txBody>
      </p:sp>
      <p:sp>
        <p:nvSpPr>
          <p:cNvPr id="26" name="Text 24"/>
          <p:cNvSpPr/>
          <p:nvPr/>
        </p:nvSpPr>
        <p:spPr>
          <a:xfrm>
            <a:off x="6035040" y="425196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Devices keep coordinating locally even if a tower or backhaul link drops.</a:t>
            </a:r>
            <a:endParaRPr lang="en-US" sz="1200" dirty="0"/>
          </a:p>
        </p:txBody>
      </p:sp>
      <p:sp>
        <p:nvSpPr>
          <p:cNvPr id="27" name="Shape 25"/>
          <p:cNvSpPr/>
          <p:nvPr/>
        </p:nvSpPr>
        <p:spPr>
          <a:xfrm>
            <a:off x="5760720" y="4892040"/>
            <a:ext cx="128016" cy="128016"/>
          </a:xfrm>
          <a:prstGeom prst="ellipse">
            <a:avLst/>
          </a:prstGeom>
          <a:solidFill>
            <a:srgbClr val="0E7C7B"/>
          </a:solidFill>
          <a:ln w="12700">
            <a:solidFill>
              <a:srgbClr val="0E7C7B"/>
            </a:solidFill>
            <a:prstDash val="solid"/>
          </a:ln>
        </p:spPr>
      </p:sp>
      <p:sp>
        <p:nvSpPr>
          <p:cNvPr id="28" name="Text 26"/>
          <p:cNvSpPr/>
          <p:nvPr/>
        </p:nvSpPr>
        <p:spPr>
          <a:xfrm>
            <a:off x="6035040" y="480060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Massive IoT readiness</a:t>
            </a:r>
            <a:endParaRPr lang="en-US" sz="1350" dirty="0"/>
          </a:p>
        </p:txBody>
      </p:sp>
      <p:sp>
        <p:nvSpPr>
          <p:cNvPr id="29" name="Text 27"/>
          <p:cNvSpPr/>
          <p:nvPr/>
        </p:nvSpPr>
        <p:spPr>
          <a:xfrm>
            <a:off x="6035040" y="512064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Designed for the high device counts that 5G-Advanced and 6G will enable (“mMTC” = many low-power devices).</a:t>
            </a:r>
            <a:endParaRPr lang="en-US" sz="1200" dirty="0"/>
          </a:p>
        </p:txBody>
      </p:sp>
      <p:sp>
        <p:nvSpPr>
          <p:cNvPr id="30" name="Shape 28"/>
          <p:cNvSpPr/>
          <p:nvPr/>
        </p:nvSpPr>
        <p:spPr>
          <a:xfrm>
            <a:off x="5760720" y="5715000"/>
            <a:ext cx="5943600" cy="411480"/>
          </a:xfrm>
          <a:prstGeom prst="rect">
            <a:avLst/>
          </a:prstGeom>
          <a:solidFill>
            <a:srgbClr val="DCEEEE"/>
          </a:solidFill>
          <a:ln w="12700">
            <a:solidFill>
              <a:srgbClr val="DCEEEE"/>
            </a:solidFill>
            <a:prstDash val="solid"/>
          </a:ln>
        </p:spPr>
      </p:sp>
      <p:sp>
        <p:nvSpPr>
          <p:cNvPr id="31" name="Text 29"/>
          <p:cNvSpPr/>
          <p:nvPr/>
        </p:nvSpPr>
        <p:spPr>
          <a:xfrm>
            <a:off x="5943600" y="5715000"/>
            <a:ext cx="5577840" cy="411480"/>
          </a:xfrm>
          <a:prstGeom prst="rect">
            <a:avLst/>
          </a:prstGeom>
          <a:noFill/>
          <a:ln/>
        </p:spPr>
        <p:txBody>
          <a:bodyPr wrap="square" rtlCol="0" anchor="ctr"/>
          <a:lstStyle/>
          <a:p>
            <a:pPr indent="0" marL="0">
              <a:buNone/>
            </a:pPr>
            <a:r>
              <a:rPr lang="en-US" sz="1150" b="1" dirty="0">
                <a:solidFill>
                  <a:srgbClr val="0A5E5D"/>
                </a:solidFill>
                <a:latin typeface="Calibri" pitchFamily="34" charset="0"/>
                <a:ea typeface="Calibri" pitchFamily="34" charset="-122"/>
                <a:cs typeface="Calibri" pitchFamily="34" charset="-120"/>
              </a:rPr>
              <a:t>Bell teams that benefit:  Bell IoT, Bell Mobility network ops, Public Safety</a:t>
            </a:r>
            <a:endParaRPr lang="en-US" sz="1150" dirty="0"/>
          </a:p>
        </p:txBody>
      </p:sp>
      <p:sp>
        <p:nvSpPr>
          <p:cNvPr id="32" name="Text 30"/>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3"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4" name="Text 31"/>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Bell IoT modernization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CRTC Indigenous connectivity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LAYER 2 OF 3 · THE ROUTING LAYER</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CALASH: choose routes that save energy and delay equipment replacement</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Shape 3"/>
          <p:cNvSpPr/>
          <p:nvPr/>
        </p:nvSpPr>
        <p:spPr>
          <a:xfrm>
            <a:off x="457200" y="1600200"/>
            <a:ext cx="5029200" cy="4297680"/>
          </a:xfrm>
          <a:prstGeom prst="rect">
            <a:avLst/>
          </a:prstGeom>
          <a:solidFill>
            <a:srgbClr val="F4F7FB"/>
          </a:solidFill>
          <a:ln w="9525">
            <a:solidFill>
              <a:srgbClr val="E5EAF1"/>
            </a:solidFill>
            <a:prstDash val="solid"/>
          </a:ln>
        </p:spPr>
      </p:sp>
      <p:sp>
        <p:nvSpPr>
          <p:cNvPr id="6" name="Shape 4"/>
          <p:cNvSpPr/>
          <p:nvPr/>
        </p:nvSpPr>
        <p:spPr>
          <a:xfrm>
            <a:off x="457200" y="1600200"/>
            <a:ext cx="5029200" cy="73152"/>
          </a:xfrm>
          <a:prstGeom prst="rect">
            <a:avLst/>
          </a:prstGeom>
          <a:solidFill>
            <a:srgbClr val="1B9AAA"/>
          </a:solidFill>
          <a:ln w="12700">
            <a:solidFill>
              <a:srgbClr val="1B9AAA"/>
            </a:solidFill>
            <a:prstDash val="solid"/>
          </a:ln>
        </p:spPr>
      </p:sp>
      <p:sp>
        <p:nvSpPr>
          <p:cNvPr id="7" name="Text 5"/>
          <p:cNvSpPr/>
          <p:nvPr/>
        </p:nvSpPr>
        <p:spPr>
          <a:xfrm>
            <a:off x="731520" y="1737360"/>
            <a:ext cx="4480560" cy="274320"/>
          </a:xfrm>
          <a:prstGeom prst="rect">
            <a:avLst/>
          </a:prstGeom>
          <a:noFill/>
          <a:ln/>
        </p:spPr>
        <p:txBody>
          <a:bodyPr wrap="square" rtlCol="0" anchor="ctr"/>
          <a:lstStyle/>
          <a:p>
            <a:pPr indent="0" marL="0">
              <a:buNone/>
            </a:pPr>
            <a:r>
              <a:rPr lang="en-US" sz="1050" b="1" spc="200" kern="0" dirty="0">
                <a:solidFill>
                  <a:srgbClr val="1B9AAA"/>
                </a:solidFill>
                <a:latin typeface="Trebuchet MS" pitchFamily="34" charset="0"/>
                <a:ea typeface="Trebuchet MS" pitchFamily="34" charset="-122"/>
                <a:cs typeface="Trebuchet MS" pitchFamily="34" charset="-120"/>
              </a:rPr>
              <a:t>THESIS RESULT</a:t>
            </a:r>
            <a:endParaRPr lang="en-US" sz="1050" dirty="0"/>
          </a:p>
        </p:txBody>
      </p:sp>
      <p:sp>
        <p:nvSpPr>
          <p:cNvPr id="8" name="Text 6"/>
          <p:cNvSpPr/>
          <p:nvPr/>
        </p:nvSpPr>
        <p:spPr>
          <a:xfrm>
            <a:off x="731520" y="2011680"/>
            <a:ext cx="4480560" cy="1097280"/>
          </a:xfrm>
          <a:prstGeom prst="rect">
            <a:avLst/>
          </a:prstGeom>
          <a:noFill/>
          <a:ln/>
        </p:spPr>
        <p:txBody>
          <a:bodyPr wrap="square" rtlCol="0" anchor="ctr"/>
          <a:lstStyle/>
          <a:p>
            <a:pPr indent="0" marL="0">
              <a:lnSpc>
                <a:spcPct val="130000"/>
              </a:lnSpc>
              <a:buNone/>
            </a:pPr>
            <a:r>
              <a:rPr lang="en-US" sz="1200" i="1" dirty="0">
                <a:solidFill>
                  <a:srgbClr val="24314A"/>
                </a:solidFill>
                <a:latin typeface="Calibri" pitchFamily="34" charset="0"/>
                <a:ea typeface="Calibri" pitchFamily="34" charset="-122"/>
                <a:cs typeface="Calibri" pitchFamily="34" charset="-120"/>
              </a:rPr>
              <a:t>A routing controller that factors in three carbon sources at once: making the equipment, running it, and retiring it. Decisions adapt to how clean each provincial power grid is in real time.</a:t>
            </a:r>
            <a:endParaRPr lang="en-US" sz="1200" dirty="0"/>
          </a:p>
        </p:txBody>
      </p:sp>
      <p:sp>
        <p:nvSpPr>
          <p:cNvPr id="9" name="Text 7"/>
          <p:cNvSpPr/>
          <p:nvPr/>
        </p:nvSpPr>
        <p:spPr>
          <a:xfrm>
            <a:off x="731520" y="324612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+60%</a:t>
            </a:r>
            <a:endParaRPr lang="en-US" sz="2600" dirty="0"/>
          </a:p>
        </p:txBody>
      </p:sp>
      <p:sp>
        <p:nvSpPr>
          <p:cNvPr id="10" name="Text 8"/>
          <p:cNvSpPr/>
          <p:nvPr/>
        </p:nvSpPr>
        <p:spPr>
          <a:xfrm>
            <a:off x="731520" y="388620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longer equipment lifetime</a:t>
            </a:r>
            <a:endParaRPr lang="en-US" sz="1150" dirty="0"/>
          </a:p>
        </p:txBody>
      </p:sp>
      <p:sp>
        <p:nvSpPr>
          <p:cNvPr id="11" name="Text 9"/>
          <p:cNvSpPr/>
          <p:nvPr/>
        </p:nvSpPr>
        <p:spPr>
          <a:xfrm>
            <a:off x="3063240" y="324612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–33%</a:t>
            </a:r>
            <a:endParaRPr lang="en-US" sz="2600" dirty="0"/>
          </a:p>
        </p:txBody>
      </p:sp>
      <p:sp>
        <p:nvSpPr>
          <p:cNvPr id="12" name="Text 10"/>
          <p:cNvSpPr/>
          <p:nvPr/>
        </p:nvSpPr>
        <p:spPr>
          <a:xfrm>
            <a:off x="3063240" y="388620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lower lifecycle carbon</a:t>
            </a:r>
            <a:endParaRPr lang="en-US" sz="1150" dirty="0"/>
          </a:p>
        </p:txBody>
      </p:sp>
      <p:sp>
        <p:nvSpPr>
          <p:cNvPr id="13" name="Text 11"/>
          <p:cNvSpPr/>
          <p:nvPr/>
        </p:nvSpPr>
        <p:spPr>
          <a:xfrm>
            <a:off x="731520" y="448056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Real-time</a:t>
            </a:r>
            <a:endParaRPr lang="en-US" sz="2600" dirty="0"/>
          </a:p>
        </p:txBody>
      </p:sp>
      <p:sp>
        <p:nvSpPr>
          <p:cNvPr id="14" name="Text 12"/>
          <p:cNvSpPr/>
          <p:nvPr/>
        </p:nvSpPr>
        <p:spPr>
          <a:xfrm>
            <a:off x="731520" y="512064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reacts to grid cleanliness</a:t>
            </a:r>
            <a:endParaRPr lang="en-US" sz="1150" dirty="0"/>
          </a:p>
        </p:txBody>
      </p:sp>
      <p:sp>
        <p:nvSpPr>
          <p:cNvPr id="15" name="Text 13"/>
          <p:cNvSpPr/>
          <p:nvPr/>
        </p:nvSpPr>
        <p:spPr>
          <a:xfrm>
            <a:off x="3063240" y="448056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ISO 14040</a:t>
            </a:r>
            <a:endParaRPr lang="en-US" sz="2600" dirty="0"/>
          </a:p>
        </p:txBody>
      </p:sp>
      <p:sp>
        <p:nvSpPr>
          <p:cNvPr id="16" name="Text 14"/>
          <p:cNvSpPr/>
          <p:nvPr/>
        </p:nvSpPr>
        <p:spPr>
          <a:xfrm>
            <a:off x="3063240" y="512064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auditable methodology</a:t>
            </a:r>
            <a:endParaRPr lang="en-US" sz="1150" dirty="0"/>
          </a:p>
        </p:txBody>
      </p:sp>
      <p:sp>
        <p:nvSpPr>
          <p:cNvPr id="17" name="Text 15"/>
          <p:cNvSpPr/>
          <p:nvPr/>
        </p:nvSpPr>
        <p:spPr>
          <a:xfrm>
            <a:off x="5760720" y="1691640"/>
            <a:ext cx="5943600" cy="365760"/>
          </a:xfrm>
          <a:prstGeom prst="rect">
            <a:avLst/>
          </a:prstGeom>
          <a:noFill/>
          <a:ln/>
        </p:spPr>
        <p:txBody>
          <a:bodyPr wrap="square" rtlCol="0" anchor="ctr"/>
          <a:lstStyle/>
          <a:p>
            <a:pPr indent="0" marL="0">
              <a:buNone/>
            </a:pPr>
            <a:r>
              <a:rPr lang="en-US" sz="1600" b="1" dirty="0">
                <a:solidFill>
                  <a:srgbClr val="0B2545"/>
                </a:solidFill>
                <a:latin typeface="Trebuchet MS" pitchFamily="34" charset="0"/>
                <a:ea typeface="Trebuchet MS" pitchFamily="34" charset="-122"/>
                <a:cs typeface="Trebuchet MS" pitchFamily="34" charset="-120"/>
              </a:rPr>
              <a:t>What Bell can do with this</a:t>
            </a:r>
            <a:endParaRPr lang="en-US" sz="1600" dirty="0"/>
          </a:p>
        </p:txBody>
      </p:sp>
      <p:sp>
        <p:nvSpPr>
          <p:cNvPr id="18" name="Shape 16"/>
          <p:cNvSpPr/>
          <p:nvPr/>
        </p:nvSpPr>
        <p:spPr>
          <a:xfrm>
            <a:off x="5760720" y="2286000"/>
            <a:ext cx="128016" cy="128016"/>
          </a:xfrm>
          <a:prstGeom prst="ellipse">
            <a:avLst/>
          </a:prstGeom>
          <a:solidFill>
            <a:srgbClr val="0E7C7B"/>
          </a:solidFill>
          <a:ln w="12700">
            <a:solidFill>
              <a:srgbClr val="0E7C7B"/>
            </a:solidFill>
            <a:prstDash val="solid"/>
          </a:ln>
        </p:spPr>
      </p:sp>
      <p:sp>
        <p:nvSpPr>
          <p:cNvPr id="19" name="Text 17"/>
          <p:cNvSpPr/>
          <p:nvPr/>
        </p:nvSpPr>
        <p:spPr>
          <a:xfrm>
            <a:off x="6035040" y="219456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Address the bigger half of Bell’s footprint</a:t>
            </a:r>
            <a:endParaRPr lang="en-US" sz="1350" dirty="0"/>
          </a:p>
        </p:txBody>
      </p:sp>
      <p:sp>
        <p:nvSpPr>
          <p:cNvPr id="20" name="Text 18"/>
          <p:cNvSpPr/>
          <p:nvPr/>
        </p:nvSpPr>
        <p:spPr>
          <a:xfrm>
            <a:off x="6035040" y="251460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Most of BCE’s carbon impact sits in purchased equipment and supplier activity — not just electricity bills.</a:t>
            </a:r>
            <a:endParaRPr lang="en-US" sz="1200" dirty="0"/>
          </a:p>
        </p:txBody>
      </p:sp>
      <p:sp>
        <p:nvSpPr>
          <p:cNvPr id="21" name="Shape 19"/>
          <p:cNvSpPr/>
          <p:nvPr/>
        </p:nvSpPr>
        <p:spPr>
          <a:xfrm>
            <a:off x="5760720" y="3154680"/>
            <a:ext cx="128016" cy="128016"/>
          </a:xfrm>
          <a:prstGeom prst="ellipse">
            <a:avLst/>
          </a:prstGeom>
          <a:solidFill>
            <a:srgbClr val="0E7C7B"/>
          </a:solidFill>
          <a:ln w="12700">
            <a:solidFill>
              <a:srgbClr val="0E7C7B"/>
            </a:solidFill>
            <a:prstDash val="solid"/>
          </a:ln>
        </p:spPr>
      </p:sp>
      <p:sp>
        <p:nvSpPr>
          <p:cNvPr id="22" name="Text 20"/>
          <p:cNvSpPr/>
          <p:nvPr/>
        </p:nvSpPr>
        <p:spPr>
          <a:xfrm>
            <a:off x="6035040" y="306324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Use Canada’s clean grids on purpose</a:t>
            </a:r>
            <a:endParaRPr lang="en-US" sz="1350" dirty="0"/>
          </a:p>
        </p:txBody>
      </p:sp>
      <p:sp>
        <p:nvSpPr>
          <p:cNvPr id="23" name="Text 21"/>
          <p:cNvSpPr/>
          <p:nvPr/>
        </p:nvSpPr>
        <p:spPr>
          <a:xfrm>
            <a:off x="6035040" y="338328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Shift work toward provinces with cleaner power when service-level rules allow.</a:t>
            </a:r>
            <a:endParaRPr lang="en-US" sz="1200" dirty="0"/>
          </a:p>
        </p:txBody>
      </p:sp>
      <p:sp>
        <p:nvSpPr>
          <p:cNvPr id="24" name="Shape 22"/>
          <p:cNvSpPr/>
          <p:nvPr/>
        </p:nvSpPr>
        <p:spPr>
          <a:xfrm>
            <a:off x="5760720" y="4023360"/>
            <a:ext cx="128016" cy="128016"/>
          </a:xfrm>
          <a:prstGeom prst="ellipse">
            <a:avLst/>
          </a:prstGeom>
          <a:solidFill>
            <a:srgbClr val="0E7C7B"/>
          </a:solidFill>
          <a:ln w="12700">
            <a:solidFill>
              <a:srgbClr val="0E7C7B"/>
            </a:solidFill>
            <a:prstDash val="solid"/>
          </a:ln>
        </p:spPr>
      </p:sp>
      <p:sp>
        <p:nvSpPr>
          <p:cNvPr id="25" name="Text 23"/>
          <p:cNvSpPr/>
          <p:nvPr/>
        </p:nvSpPr>
        <p:spPr>
          <a:xfrm>
            <a:off x="6035040" y="393192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Defer replacement carbon</a:t>
            </a:r>
            <a:endParaRPr lang="en-US" sz="1350" dirty="0"/>
          </a:p>
        </p:txBody>
      </p:sp>
      <p:sp>
        <p:nvSpPr>
          <p:cNvPr id="26" name="Text 24"/>
          <p:cNvSpPr/>
          <p:nvPr/>
        </p:nvSpPr>
        <p:spPr>
          <a:xfrm>
            <a:off x="6035040" y="425196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Routing that protects aging gear extends its useful life — reducing how often new hardware must be built and shipped.</a:t>
            </a:r>
            <a:endParaRPr lang="en-US" sz="1200" dirty="0"/>
          </a:p>
        </p:txBody>
      </p:sp>
      <p:sp>
        <p:nvSpPr>
          <p:cNvPr id="27" name="Shape 25"/>
          <p:cNvSpPr/>
          <p:nvPr/>
        </p:nvSpPr>
        <p:spPr>
          <a:xfrm>
            <a:off x="5760720" y="4892040"/>
            <a:ext cx="128016" cy="128016"/>
          </a:xfrm>
          <a:prstGeom prst="ellipse">
            <a:avLst/>
          </a:prstGeom>
          <a:solidFill>
            <a:srgbClr val="0E7C7B"/>
          </a:solidFill>
          <a:ln w="12700">
            <a:solidFill>
              <a:srgbClr val="0E7C7B"/>
            </a:solidFill>
            <a:prstDash val="solid"/>
          </a:ln>
        </p:spPr>
      </p:sp>
      <p:sp>
        <p:nvSpPr>
          <p:cNvPr id="28" name="Text 26"/>
          <p:cNvSpPr/>
          <p:nvPr/>
        </p:nvSpPr>
        <p:spPr>
          <a:xfrm>
            <a:off x="6035040" y="480060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Investor-defensible</a:t>
            </a:r>
            <a:endParaRPr lang="en-US" sz="1350" dirty="0"/>
          </a:p>
        </p:txBody>
      </p:sp>
      <p:sp>
        <p:nvSpPr>
          <p:cNvPr id="29" name="Text 27"/>
          <p:cNvSpPr/>
          <p:nvPr/>
        </p:nvSpPr>
        <p:spPr>
          <a:xfrm>
            <a:off x="6035040" y="512064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Standards-based (ISO 14040) so the savings story is auditable for CDP, regulators, and investors.</a:t>
            </a:r>
            <a:endParaRPr lang="en-US" sz="1200" dirty="0"/>
          </a:p>
        </p:txBody>
      </p:sp>
      <p:sp>
        <p:nvSpPr>
          <p:cNvPr id="30" name="Shape 28"/>
          <p:cNvSpPr/>
          <p:nvPr/>
        </p:nvSpPr>
        <p:spPr>
          <a:xfrm>
            <a:off x="5760720" y="5715000"/>
            <a:ext cx="5943600" cy="411480"/>
          </a:xfrm>
          <a:prstGeom prst="rect">
            <a:avLst/>
          </a:prstGeom>
          <a:solidFill>
            <a:srgbClr val="DCEEEE"/>
          </a:solidFill>
          <a:ln w="12700">
            <a:solidFill>
              <a:srgbClr val="DCEEEE"/>
            </a:solidFill>
            <a:prstDash val="solid"/>
          </a:ln>
        </p:spPr>
      </p:sp>
      <p:sp>
        <p:nvSpPr>
          <p:cNvPr id="31" name="Text 29"/>
          <p:cNvSpPr/>
          <p:nvPr/>
        </p:nvSpPr>
        <p:spPr>
          <a:xfrm>
            <a:off x="5943600" y="5715000"/>
            <a:ext cx="5577840" cy="411480"/>
          </a:xfrm>
          <a:prstGeom prst="rect">
            <a:avLst/>
          </a:prstGeom>
          <a:noFill/>
          <a:ln/>
        </p:spPr>
        <p:txBody>
          <a:bodyPr wrap="square" rtlCol="0" anchor="ctr"/>
          <a:lstStyle/>
          <a:p>
            <a:pPr indent="0" marL="0">
              <a:buNone/>
            </a:pPr>
            <a:r>
              <a:rPr lang="en-US" sz="1150" b="1" dirty="0">
                <a:solidFill>
                  <a:srgbClr val="0A5E5D"/>
                </a:solidFill>
                <a:latin typeface="Calibri" pitchFamily="34" charset="0"/>
                <a:ea typeface="Calibri" pitchFamily="34" charset="-122"/>
                <a:cs typeface="Calibri" pitchFamily="34" charset="-120"/>
              </a:rPr>
              <a:t>Bell teams that benefit:  ESG / Sustainability, Network operations, Bell AI Fabric</a:t>
            </a:r>
            <a:endParaRPr lang="en-US" sz="1150" dirty="0"/>
          </a:p>
        </p:txBody>
      </p:sp>
      <p:sp>
        <p:nvSpPr>
          <p:cNvPr id="32" name="Text 30"/>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3"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4" name="Text 31"/>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BCE 2024 Climate Action Report</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BCE 2024 Annual Financial Report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LAYER 3 OF 3 · THE SAFETY LAYER</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CASTER-ZT: let autonomous network software act fast without trusting any input blindly</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Shape 3"/>
          <p:cNvSpPr/>
          <p:nvPr/>
        </p:nvSpPr>
        <p:spPr>
          <a:xfrm>
            <a:off x="457200" y="1600200"/>
            <a:ext cx="5029200" cy="4297680"/>
          </a:xfrm>
          <a:prstGeom prst="rect">
            <a:avLst/>
          </a:prstGeom>
          <a:solidFill>
            <a:srgbClr val="F4F7FB"/>
          </a:solidFill>
          <a:ln w="9525">
            <a:solidFill>
              <a:srgbClr val="E5EAF1"/>
            </a:solidFill>
            <a:prstDash val="solid"/>
          </a:ln>
        </p:spPr>
      </p:sp>
      <p:sp>
        <p:nvSpPr>
          <p:cNvPr id="6" name="Shape 4"/>
          <p:cNvSpPr/>
          <p:nvPr/>
        </p:nvSpPr>
        <p:spPr>
          <a:xfrm>
            <a:off x="457200" y="1600200"/>
            <a:ext cx="5029200" cy="73152"/>
          </a:xfrm>
          <a:prstGeom prst="rect">
            <a:avLst/>
          </a:prstGeom>
          <a:solidFill>
            <a:srgbClr val="1B9AAA"/>
          </a:solidFill>
          <a:ln w="12700">
            <a:solidFill>
              <a:srgbClr val="1B9AAA"/>
            </a:solidFill>
            <a:prstDash val="solid"/>
          </a:ln>
        </p:spPr>
      </p:sp>
      <p:sp>
        <p:nvSpPr>
          <p:cNvPr id="7" name="Text 5"/>
          <p:cNvSpPr/>
          <p:nvPr/>
        </p:nvSpPr>
        <p:spPr>
          <a:xfrm>
            <a:off x="731520" y="1737360"/>
            <a:ext cx="4480560" cy="274320"/>
          </a:xfrm>
          <a:prstGeom prst="rect">
            <a:avLst/>
          </a:prstGeom>
          <a:noFill/>
          <a:ln/>
        </p:spPr>
        <p:txBody>
          <a:bodyPr wrap="square" rtlCol="0" anchor="ctr"/>
          <a:lstStyle/>
          <a:p>
            <a:pPr indent="0" marL="0">
              <a:buNone/>
            </a:pPr>
            <a:r>
              <a:rPr lang="en-US" sz="1050" b="1" spc="200" kern="0" dirty="0">
                <a:solidFill>
                  <a:srgbClr val="1B9AAA"/>
                </a:solidFill>
                <a:latin typeface="Trebuchet MS" pitchFamily="34" charset="0"/>
                <a:ea typeface="Trebuchet MS" pitchFamily="34" charset="-122"/>
                <a:cs typeface="Trebuchet MS" pitchFamily="34" charset="-120"/>
              </a:rPr>
              <a:t>THESIS RESULT</a:t>
            </a:r>
            <a:endParaRPr lang="en-US" sz="1050" dirty="0"/>
          </a:p>
        </p:txBody>
      </p:sp>
      <p:sp>
        <p:nvSpPr>
          <p:cNvPr id="8" name="Text 6"/>
          <p:cNvSpPr/>
          <p:nvPr/>
        </p:nvSpPr>
        <p:spPr>
          <a:xfrm>
            <a:off x="731520" y="2011680"/>
            <a:ext cx="4480560" cy="1097280"/>
          </a:xfrm>
          <a:prstGeom prst="rect">
            <a:avLst/>
          </a:prstGeom>
          <a:noFill/>
          <a:ln/>
        </p:spPr>
        <p:txBody>
          <a:bodyPr wrap="square" rtlCol="0" anchor="ctr"/>
          <a:lstStyle/>
          <a:p>
            <a:pPr indent="0" marL="0">
              <a:lnSpc>
                <a:spcPct val="130000"/>
              </a:lnSpc>
              <a:buNone/>
            </a:pPr>
            <a:r>
              <a:rPr lang="en-US" sz="1200" i="1" dirty="0">
                <a:solidFill>
                  <a:srgbClr val="24314A"/>
                </a:solidFill>
                <a:latin typeface="Calibri" pitchFamily="34" charset="0"/>
                <a:ea typeface="Calibri" pitchFamily="34" charset="-122"/>
                <a:cs typeface="Calibri" pitchFamily="34" charset="-120"/>
              </a:rPr>
              <a:t>A mathematically verified safety layer that screens decisions before they reach the live radio. It detects malicious or faulty inputs and blocks them — fast enough for real-time control.</a:t>
            </a:r>
            <a:endParaRPr lang="en-US" sz="1200" dirty="0"/>
          </a:p>
        </p:txBody>
      </p:sp>
      <p:sp>
        <p:nvSpPr>
          <p:cNvPr id="9" name="Text 7"/>
          <p:cNvSpPr/>
          <p:nvPr/>
        </p:nvSpPr>
        <p:spPr>
          <a:xfrm>
            <a:off x="731520" y="324612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74–98%</a:t>
            </a:r>
            <a:endParaRPr lang="en-US" sz="2600" dirty="0"/>
          </a:p>
        </p:txBody>
      </p:sp>
      <p:sp>
        <p:nvSpPr>
          <p:cNvPr id="10" name="Text 8"/>
          <p:cNvSpPr/>
          <p:nvPr/>
        </p:nvSpPr>
        <p:spPr>
          <a:xfrm>
            <a:off x="731520" y="388620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attackers detected</a:t>
            </a:r>
            <a:endParaRPr lang="en-US" sz="1150" dirty="0"/>
          </a:p>
        </p:txBody>
      </p:sp>
      <p:sp>
        <p:nvSpPr>
          <p:cNvPr id="11" name="Text 9"/>
          <p:cNvSpPr/>
          <p:nvPr/>
        </p:nvSpPr>
        <p:spPr>
          <a:xfrm>
            <a:off x="3063240" y="324612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0</a:t>
            </a:r>
            <a:endParaRPr lang="en-US" sz="2600" dirty="0"/>
          </a:p>
        </p:txBody>
      </p:sp>
      <p:sp>
        <p:nvSpPr>
          <p:cNvPr id="12" name="Text 10"/>
          <p:cNvSpPr/>
          <p:nvPr/>
        </p:nvSpPr>
        <p:spPr>
          <a:xfrm>
            <a:off x="3063240" y="388620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false alarms</a:t>
            </a:r>
            <a:endParaRPr lang="en-US" sz="1150" dirty="0"/>
          </a:p>
        </p:txBody>
      </p:sp>
      <p:sp>
        <p:nvSpPr>
          <p:cNvPr id="13" name="Text 11"/>
          <p:cNvSpPr/>
          <p:nvPr/>
        </p:nvSpPr>
        <p:spPr>
          <a:xfrm>
            <a:off x="731520" y="448056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~3 ms</a:t>
            </a:r>
            <a:endParaRPr lang="en-US" sz="2600" dirty="0"/>
          </a:p>
        </p:txBody>
      </p:sp>
      <p:sp>
        <p:nvSpPr>
          <p:cNvPr id="14" name="Text 12"/>
          <p:cNvSpPr/>
          <p:nvPr/>
        </p:nvSpPr>
        <p:spPr>
          <a:xfrm>
            <a:off x="731520" y="512064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primary test configuration</a:t>
            </a:r>
            <a:endParaRPr lang="en-US" sz="1150" dirty="0"/>
          </a:p>
        </p:txBody>
      </p:sp>
      <p:sp>
        <p:nvSpPr>
          <p:cNvPr id="15" name="Text 13"/>
          <p:cNvSpPr/>
          <p:nvPr/>
        </p:nvSpPr>
        <p:spPr>
          <a:xfrm>
            <a:off x="3063240" y="4480560"/>
            <a:ext cx="2194560" cy="59436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inside</a:t>
            </a:r>
            <a:endParaRPr lang="en-US" sz="2600" dirty="0"/>
          </a:p>
        </p:txBody>
      </p:sp>
      <p:sp>
        <p:nvSpPr>
          <p:cNvPr id="16" name="Text 14"/>
          <p:cNvSpPr/>
          <p:nvPr/>
        </p:nvSpPr>
        <p:spPr>
          <a:xfrm>
            <a:off x="3063240" y="5120640"/>
            <a:ext cx="2194560" cy="457200"/>
          </a:xfrm>
          <a:prstGeom prst="rect">
            <a:avLst/>
          </a:prstGeom>
          <a:noFill/>
          <a:ln/>
        </p:spPr>
        <p:txBody>
          <a:bodyPr wrap="square" rtlCol="0" anchor="ctr"/>
          <a:lstStyle/>
          <a:p>
            <a:pPr indent="0" marL="0">
              <a:buNone/>
            </a:pPr>
            <a:r>
              <a:rPr lang="en-US" sz="1150" dirty="0">
                <a:solidFill>
                  <a:srgbClr val="5A6478"/>
                </a:solidFill>
                <a:latin typeface="Calibri" pitchFamily="34" charset="0"/>
                <a:ea typeface="Calibri" pitchFamily="34" charset="-122"/>
                <a:cs typeface="Calibri" pitchFamily="34" charset="-120"/>
              </a:rPr>
              <a:t>Bell’s real-time radio budget</a:t>
            </a:r>
            <a:endParaRPr lang="en-US" sz="1150" dirty="0"/>
          </a:p>
        </p:txBody>
      </p:sp>
      <p:sp>
        <p:nvSpPr>
          <p:cNvPr id="17" name="Text 15"/>
          <p:cNvSpPr/>
          <p:nvPr/>
        </p:nvSpPr>
        <p:spPr>
          <a:xfrm>
            <a:off x="5760720" y="1691640"/>
            <a:ext cx="5943600" cy="365760"/>
          </a:xfrm>
          <a:prstGeom prst="rect">
            <a:avLst/>
          </a:prstGeom>
          <a:noFill/>
          <a:ln/>
        </p:spPr>
        <p:txBody>
          <a:bodyPr wrap="square" rtlCol="0" anchor="ctr"/>
          <a:lstStyle/>
          <a:p>
            <a:pPr indent="0" marL="0">
              <a:buNone/>
            </a:pPr>
            <a:r>
              <a:rPr lang="en-US" sz="1600" b="1" dirty="0">
                <a:solidFill>
                  <a:srgbClr val="0B2545"/>
                </a:solidFill>
                <a:latin typeface="Trebuchet MS" pitchFamily="34" charset="0"/>
                <a:ea typeface="Trebuchet MS" pitchFamily="34" charset="-122"/>
                <a:cs typeface="Trebuchet MS" pitchFamily="34" charset="-120"/>
              </a:rPr>
              <a:t>What Bell can do with this</a:t>
            </a:r>
            <a:endParaRPr lang="en-US" sz="1600" dirty="0"/>
          </a:p>
        </p:txBody>
      </p:sp>
      <p:sp>
        <p:nvSpPr>
          <p:cNvPr id="18" name="Shape 16"/>
          <p:cNvSpPr/>
          <p:nvPr/>
        </p:nvSpPr>
        <p:spPr>
          <a:xfrm>
            <a:off x="5760720" y="2286000"/>
            <a:ext cx="128016" cy="128016"/>
          </a:xfrm>
          <a:prstGeom prst="ellipse">
            <a:avLst/>
          </a:prstGeom>
          <a:solidFill>
            <a:srgbClr val="0E7C7B"/>
          </a:solidFill>
          <a:ln w="12700">
            <a:solidFill>
              <a:srgbClr val="0E7C7B"/>
            </a:solidFill>
            <a:prstDash val="solid"/>
          </a:ln>
        </p:spPr>
      </p:sp>
      <p:sp>
        <p:nvSpPr>
          <p:cNvPr id="19" name="Text 17"/>
          <p:cNvSpPr/>
          <p:nvPr/>
        </p:nvSpPr>
        <p:spPr>
          <a:xfrm>
            <a:off x="6035040" y="219456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Catch rogue software inside the network</a:t>
            </a:r>
            <a:endParaRPr lang="en-US" sz="1350" dirty="0"/>
          </a:p>
        </p:txBody>
      </p:sp>
      <p:sp>
        <p:nvSpPr>
          <p:cNvPr id="20" name="Text 18"/>
          <p:cNvSpPr/>
          <p:nvPr/>
        </p:nvSpPr>
        <p:spPr>
          <a:xfrm>
            <a:off x="6035040" y="251460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Detects bad models, manipulated readings, or compromised modules — the threats Open RAN security working groups have prioritized.</a:t>
            </a:r>
            <a:endParaRPr lang="en-US" sz="1200" dirty="0"/>
          </a:p>
        </p:txBody>
      </p:sp>
      <p:sp>
        <p:nvSpPr>
          <p:cNvPr id="21" name="Shape 19"/>
          <p:cNvSpPr/>
          <p:nvPr/>
        </p:nvSpPr>
        <p:spPr>
          <a:xfrm>
            <a:off x="5760720" y="3154680"/>
            <a:ext cx="128016" cy="128016"/>
          </a:xfrm>
          <a:prstGeom prst="ellipse">
            <a:avLst/>
          </a:prstGeom>
          <a:solidFill>
            <a:srgbClr val="0E7C7B"/>
          </a:solidFill>
          <a:ln w="12700">
            <a:solidFill>
              <a:srgbClr val="0E7C7B"/>
            </a:solidFill>
            <a:prstDash val="solid"/>
          </a:ln>
        </p:spPr>
      </p:sp>
      <p:sp>
        <p:nvSpPr>
          <p:cNvPr id="22" name="Text 20"/>
          <p:cNvSpPr/>
          <p:nvPr/>
        </p:nvSpPr>
        <p:spPr>
          <a:xfrm>
            <a:off x="6035040" y="306324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Zero false alarms = no needless outages</a:t>
            </a:r>
            <a:endParaRPr lang="en-US" sz="1350" dirty="0"/>
          </a:p>
        </p:txBody>
      </p:sp>
      <p:sp>
        <p:nvSpPr>
          <p:cNvPr id="23" name="Text 21"/>
          <p:cNvSpPr/>
          <p:nvPr/>
        </p:nvSpPr>
        <p:spPr>
          <a:xfrm>
            <a:off x="6035040" y="338328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In a live network, a false alarm is itself a service outage. The model is tuned to never trigger one.</a:t>
            </a:r>
            <a:endParaRPr lang="en-US" sz="1200" dirty="0"/>
          </a:p>
        </p:txBody>
      </p:sp>
      <p:sp>
        <p:nvSpPr>
          <p:cNvPr id="24" name="Shape 22"/>
          <p:cNvSpPr/>
          <p:nvPr/>
        </p:nvSpPr>
        <p:spPr>
          <a:xfrm>
            <a:off x="5760720" y="4023360"/>
            <a:ext cx="128016" cy="128016"/>
          </a:xfrm>
          <a:prstGeom prst="ellipse">
            <a:avLst/>
          </a:prstGeom>
          <a:solidFill>
            <a:srgbClr val="0E7C7B"/>
          </a:solidFill>
          <a:ln w="12700">
            <a:solidFill>
              <a:srgbClr val="0E7C7B"/>
            </a:solidFill>
            <a:prstDash val="solid"/>
          </a:ln>
        </p:spPr>
      </p:sp>
      <p:sp>
        <p:nvSpPr>
          <p:cNvPr id="25" name="Text 23"/>
          <p:cNvSpPr/>
          <p:nvPr/>
        </p:nvSpPr>
        <p:spPr>
          <a:xfrm>
            <a:off x="6035040" y="393192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Fast enough for autonomous control</a:t>
            </a:r>
            <a:endParaRPr lang="en-US" sz="1350" dirty="0"/>
          </a:p>
        </p:txBody>
      </p:sp>
      <p:sp>
        <p:nvSpPr>
          <p:cNvPr id="26" name="Text 24"/>
          <p:cNvSpPr/>
          <p:nvPr/>
        </p:nvSpPr>
        <p:spPr>
          <a:xfrm>
            <a:off x="6035040" y="425196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~3 milliseconds in our primary test configuration — inside Bell’s real-time radio budget.</a:t>
            </a:r>
            <a:endParaRPr lang="en-US" sz="1200" dirty="0"/>
          </a:p>
        </p:txBody>
      </p:sp>
      <p:sp>
        <p:nvSpPr>
          <p:cNvPr id="27" name="Shape 25"/>
          <p:cNvSpPr/>
          <p:nvPr/>
        </p:nvSpPr>
        <p:spPr>
          <a:xfrm>
            <a:off x="5760720" y="4892040"/>
            <a:ext cx="128016" cy="128016"/>
          </a:xfrm>
          <a:prstGeom prst="ellipse">
            <a:avLst/>
          </a:prstGeom>
          <a:solidFill>
            <a:srgbClr val="0E7C7B"/>
          </a:solidFill>
          <a:ln w="12700">
            <a:solidFill>
              <a:srgbClr val="0E7C7B"/>
            </a:solidFill>
            <a:prstDash val="solid"/>
          </a:ln>
        </p:spPr>
      </p:sp>
      <p:sp>
        <p:nvSpPr>
          <p:cNvPr id="28" name="Text 26"/>
          <p:cNvSpPr/>
          <p:nvPr/>
        </p:nvSpPr>
        <p:spPr>
          <a:xfrm>
            <a:off x="6035040" y="4800600"/>
            <a:ext cx="5669280" cy="320040"/>
          </a:xfrm>
          <a:prstGeom prst="rect">
            <a:avLst/>
          </a:prstGeom>
          <a:noFill/>
          <a:ln/>
        </p:spPr>
        <p:txBody>
          <a:bodyPr wrap="square" rtlCol="0" anchor="ctr"/>
          <a:lstStyle/>
          <a:p>
            <a:pPr indent="0" marL="0">
              <a:buNone/>
            </a:pPr>
            <a:r>
              <a:rPr lang="en-US" sz="1350" b="1" dirty="0">
                <a:solidFill>
                  <a:srgbClr val="0B2545"/>
                </a:solidFill>
                <a:latin typeface="Calibri" pitchFamily="34" charset="0"/>
                <a:ea typeface="Calibri" pitchFamily="34" charset="-122"/>
                <a:cs typeface="Calibri" pitchFamily="34" charset="-120"/>
              </a:rPr>
              <a:t>Aligns with Canadian cyber law</a:t>
            </a:r>
            <a:endParaRPr lang="en-US" sz="1350" dirty="0"/>
          </a:p>
        </p:txBody>
      </p:sp>
      <p:sp>
        <p:nvSpPr>
          <p:cNvPr id="29" name="Text 27"/>
          <p:cNvSpPr/>
          <p:nvPr/>
        </p:nvSpPr>
        <p:spPr>
          <a:xfrm>
            <a:off x="6035040" y="5120640"/>
            <a:ext cx="5669280" cy="50292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Maps to Bill C-8 telecom security obligations, supply-chain controls, and incident-reporting rules.</a:t>
            </a:r>
            <a:endParaRPr lang="en-US" sz="1200" dirty="0"/>
          </a:p>
        </p:txBody>
      </p:sp>
      <p:sp>
        <p:nvSpPr>
          <p:cNvPr id="30" name="Shape 28"/>
          <p:cNvSpPr/>
          <p:nvPr/>
        </p:nvSpPr>
        <p:spPr>
          <a:xfrm>
            <a:off x="5760720" y="5715000"/>
            <a:ext cx="5943600" cy="411480"/>
          </a:xfrm>
          <a:prstGeom prst="rect">
            <a:avLst/>
          </a:prstGeom>
          <a:solidFill>
            <a:srgbClr val="DCEEEE"/>
          </a:solidFill>
          <a:ln w="12700">
            <a:solidFill>
              <a:srgbClr val="DCEEEE"/>
            </a:solidFill>
            <a:prstDash val="solid"/>
          </a:ln>
        </p:spPr>
      </p:sp>
      <p:sp>
        <p:nvSpPr>
          <p:cNvPr id="31" name="Text 29"/>
          <p:cNvSpPr/>
          <p:nvPr/>
        </p:nvSpPr>
        <p:spPr>
          <a:xfrm>
            <a:off x="5943600" y="5715000"/>
            <a:ext cx="5577840" cy="411480"/>
          </a:xfrm>
          <a:prstGeom prst="rect">
            <a:avLst/>
          </a:prstGeom>
          <a:noFill/>
          <a:ln/>
        </p:spPr>
        <p:txBody>
          <a:bodyPr wrap="square" rtlCol="0" anchor="ctr"/>
          <a:lstStyle/>
          <a:p>
            <a:pPr indent="0" marL="0">
              <a:buNone/>
            </a:pPr>
            <a:r>
              <a:rPr lang="en-US" sz="1150" b="1" dirty="0">
                <a:solidFill>
                  <a:srgbClr val="0A5E5D"/>
                </a:solidFill>
                <a:latin typeface="Calibri" pitchFamily="34" charset="0"/>
                <a:ea typeface="Calibri" pitchFamily="34" charset="-122"/>
                <a:cs typeface="Calibri" pitchFamily="34" charset="-120"/>
              </a:rPr>
              <a:t>Bell teams that benefit:  Bell Cyber, Bell Mobility RAN ops, Public Safety / PSBN</a:t>
            </a:r>
            <a:endParaRPr lang="en-US" sz="1150" dirty="0"/>
          </a:p>
        </p:txBody>
      </p:sp>
      <p:sp>
        <p:nvSpPr>
          <p:cNvPr id="32" name="Text 30"/>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3"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4" name="Text 31"/>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O-RAN Alliance security update 2025</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Near-RT RIC timing (RimeDo Labs)</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Bill C-8 (telecom cyber)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USEFUL NOW, NOT IN 2030</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Bell can test all three tools today — on assets it already operates</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457200"/>
          </a:xfrm>
          <a:prstGeom prst="rect">
            <a:avLst/>
          </a:prstGeom>
          <a:noFill/>
          <a:ln/>
        </p:spPr>
        <p:txBody>
          <a:bodyPr wrap="square"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Each tool maps onto a Bell environment that is already live. 6G standards will arrive later — the learning starts now.</a:t>
            </a:r>
            <a:endParaRPr lang="en-US" sz="1350" dirty="0"/>
          </a:p>
        </p:txBody>
      </p:sp>
      <p:sp>
        <p:nvSpPr>
          <p:cNvPr id="6" name="Shape 4"/>
          <p:cNvSpPr/>
          <p:nvPr/>
        </p:nvSpPr>
        <p:spPr>
          <a:xfrm>
            <a:off x="457200" y="2103120"/>
            <a:ext cx="1691640" cy="411480"/>
          </a:xfrm>
          <a:prstGeom prst="rect">
            <a:avLst/>
          </a:prstGeom>
          <a:solidFill>
            <a:srgbClr val="0B2545"/>
          </a:solidFill>
          <a:ln w="12700">
            <a:solidFill>
              <a:srgbClr val="0B2545"/>
            </a:solidFill>
            <a:prstDash val="solid"/>
          </a:ln>
        </p:spPr>
      </p:sp>
      <p:sp>
        <p:nvSpPr>
          <p:cNvPr id="7" name="Text 5"/>
          <p:cNvSpPr/>
          <p:nvPr/>
        </p:nvSpPr>
        <p:spPr>
          <a:xfrm>
            <a:off x="594360" y="2103120"/>
            <a:ext cx="1417320" cy="411480"/>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Tool</a:t>
            </a:r>
            <a:endParaRPr lang="en-US" sz="1200" dirty="0"/>
          </a:p>
        </p:txBody>
      </p:sp>
      <p:sp>
        <p:nvSpPr>
          <p:cNvPr id="8" name="Shape 6"/>
          <p:cNvSpPr/>
          <p:nvPr/>
        </p:nvSpPr>
        <p:spPr>
          <a:xfrm>
            <a:off x="2148840" y="2103120"/>
            <a:ext cx="2971800" cy="411480"/>
          </a:xfrm>
          <a:prstGeom prst="rect">
            <a:avLst/>
          </a:prstGeom>
          <a:solidFill>
            <a:srgbClr val="0B2545"/>
          </a:solidFill>
          <a:ln w="12700">
            <a:solidFill>
              <a:srgbClr val="0B2545"/>
            </a:solidFill>
            <a:prstDash val="solid"/>
          </a:ln>
        </p:spPr>
      </p:sp>
      <p:sp>
        <p:nvSpPr>
          <p:cNvPr id="9" name="Text 7"/>
          <p:cNvSpPr/>
          <p:nvPr/>
        </p:nvSpPr>
        <p:spPr>
          <a:xfrm>
            <a:off x="2286000" y="2103120"/>
            <a:ext cx="2697480" cy="411480"/>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Bell environment today</a:t>
            </a:r>
            <a:endParaRPr lang="en-US" sz="1200" dirty="0"/>
          </a:p>
        </p:txBody>
      </p:sp>
      <p:sp>
        <p:nvSpPr>
          <p:cNvPr id="10" name="Shape 8"/>
          <p:cNvSpPr/>
          <p:nvPr/>
        </p:nvSpPr>
        <p:spPr>
          <a:xfrm>
            <a:off x="5120640" y="2103120"/>
            <a:ext cx="4114800" cy="411480"/>
          </a:xfrm>
          <a:prstGeom prst="rect">
            <a:avLst/>
          </a:prstGeom>
          <a:solidFill>
            <a:srgbClr val="0B2545"/>
          </a:solidFill>
          <a:ln w="12700">
            <a:solidFill>
              <a:srgbClr val="0B2545"/>
            </a:solidFill>
            <a:prstDash val="solid"/>
          </a:ln>
        </p:spPr>
      </p:sp>
      <p:sp>
        <p:nvSpPr>
          <p:cNvPr id="11" name="Text 9"/>
          <p:cNvSpPr/>
          <p:nvPr/>
        </p:nvSpPr>
        <p:spPr>
          <a:xfrm>
            <a:off x="5257800" y="2103120"/>
            <a:ext cx="3840480" cy="411480"/>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What we test</a:t>
            </a:r>
            <a:endParaRPr lang="en-US" sz="1200" dirty="0"/>
          </a:p>
        </p:txBody>
      </p:sp>
      <p:sp>
        <p:nvSpPr>
          <p:cNvPr id="12" name="Shape 10"/>
          <p:cNvSpPr/>
          <p:nvPr/>
        </p:nvSpPr>
        <p:spPr>
          <a:xfrm>
            <a:off x="9235440" y="2103120"/>
            <a:ext cx="2496312" cy="411480"/>
          </a:xfrm>
          <a:prstGeom prst="rect">
            <a:avLst/>
          </a:prstGeom>
          <a:solidFill>
            <a:srgbClr val="0B2545"/>
          </a:solidFill>
          <a:ln w="12700">
            <a:solidFill>
              <a:srgbClr val="0B2545"/>
            </a:solidFill>
            <a:prstDash val="solid"/>
          </a:ln>
        </p:spPr>
      </p:sp>
      <p:sp>
        <p:nvSpPr>
          <p:cNvPr id="13" name="Text 11"/>
          <p:cNvSpPr/>
          <p:nvPr/>
        </p:nvSpPr>
        <p:spPr>
          <a:xfrm>
            <a:off x="9372600" y="2103120"/>
            <a:ext cx="2221992" cy="411480"/>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Why it future-proofs 6G</a:t>
            </a:r>
            <a:endParaRPr lang="en-US" sz="1200" dirty="0"/>
          </a:p>
        </p:txBody>
      </p:sp>
      <p:sp>
        <p:nvSpPr>
          <p:cNvPr id="14" name="Shape 12"/>
          <p:cNvSpPr/>
          <p:nvPr/>
        </p:nvSpPr>
        <p:spPr>
          <a:xfrm>
            <a:off x="457200" y="2514600"/>
            <a:ext cx="11274552" cy="1097280"/>
          </a:xfrm>
          <a:prstGeom prst="rect">
            <a:avLst/>
          </a:prstGeom>
          <a:solidFill>
            <a:srgbClr val="FFFFFF"/>
          </a:solidFill>
          <a:ln w="6350">
            <a:solidFill>
              <a:srgbClr val="E5EAF1"/>
            </a:solidFill>
            <a:prstDash val="solid"/>
          </a:ln>
        </p:spPr>
      </p:sp>
      <p:sp>
        <p:nvSpPr>
          <p:cNvPr id="15" name="Text 13"/>
          <p:cNvSpPr/>
          <p:nvPr/>
        </p:nvSpPr>
        <p:spPr>
          <a:xfrm>
            <a:off x="594360" y="2514600"/>
            <a:ext cx="1417320" cy="1097280"/>
          </a:xfrm>
          <a:prstGeom prst="rect">
            <a:avLst/>
          </a:prstGeom>
          <a:noFill/>
          <a:ln/>
        </p:spPr>
        <p:txBody>
          <a:bodyPr wrap="square" rtlCol="0" anchor="ctr"/>
          <a:lstStyle/>
          <a:p>
            <a:pPr indent="0" marL="0">
              <a:buNone/>
            </a:pPr>
            <a:r>
              <a:rPr lang="en-US" sz="1600" b="1" dirty="0">
                <a:solidFill>
                  <a:srgbClr val="0E7C7B"/>
                </a:solidFill>
                <a:latin typeface="Trebuchet MS" pitchFamily="34" charset="0"/>
                <a:ea typeface="Trebuchet MS" pitchFamily="34" charset="-122"/>
                <a:cs typeface="Trebuchet MS" pitchFamily="34" charset="-120"/>
              </a:rPr>
              <a:t>GAPF</a:t>
            </a:r>
            <a:endParaRPr lang="en-US" sz="1600" dirty="0"/>
          </a:p>
        </p:txBody>
      </p:sp>
      <p:sp>
        <p:nvSpPr>
          <p:cNvPr id="16" name="Text 14"/>
          <p:cNvSpPr/>
          <p:nvPr/>
        </p:nvSpPr>
        <p:spPr>
          <a:xfrm>
            <a:off x="2286000" y="2606040"/>
            <a:ext cx="2697480" cy="914400"/>
          </a:xfrm>
          <a:prstGeom prst="rect">
            <a:avLst/>
          </a:prstGeom>
          <a:noFill/>
          <a:ln/>
        </p:spPr>
        <p:txBody>
          <a:bodyPr wrap="square" rtlCol="0" anchor="ctr"/>
          <a:lstStyle/>
          <a:p>
            <a:pPr indent="0" marL="0">
              <a:lnSpc>
                <a:spcPct val="130000"/>
              </a:lnSpc>
              <a:buNone/>
            </a:pPr>
            <a:r>
              <a:rPr lang="en-US" sz="1200" dirty="0">
                <a:solidFill>
                  <a:srgbClr val="0B2545"/>
                </a:solidFill>
                <a:latin typeface="Calibri" pitchFamily="34" charset="0"/>
                <a:ea typeface="Calibri" pitchFamily="34" charset="-122"/>
                <a:cs typeface="Calibri" pitchFamily="34" charset="-120"/>
              </a:rPr>
              <a:t>Bell IoT / Smart Core sensor pilots</a:t>
            </a:r>
            <a:endParaRPr lang="en-US" sz="1200" dirty="0"/>
          </a:p>
        </p:txBody>
      </p:sp>
      <p:sp>
        <p:nvSpPr>
          <p:cNvPr id="17" name="Text 15"/>
          <p:cNvSpPr/>
          <p:nvPr/>
        </p:nvSpPr>
        <p:spPr>
          <a:xfrm>
            <a:off x="5257800" y="2606040"/>
            <a:ext cx="3840480" cy="91440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Run the controller on a small fleet of NB-IoT or LTE-M devices. Measure battery life and packet delivery in real Canadian conditions.</a:t>
            </a:r>
            <a:endParaRPr lang="en-US" sz="1200" dirty="0"/>
          </a:p>
        </p:txBody>
      </p:sp>
      <p:sp>
        <p:nvSpPr>
          <p:cNvPr id="18" name="Text 16"/>
          <p:cNvSpPr/>
          <p:nvPr/>
        </p:nvSpPr>
        <p:spPr>
          <a:xfrm>
            <a:off x="9372600" y="2606040"/>
            <a:ext cx="2221992" cy="914400"/>
          </a:xfrm>
          <a:prstGeom prst="rect">
            <a:avLst/>
          </a:prstGeom>
          <a:noFill/>
          <a:ln/>
        </p:spPr>
        <p:txBody>
          <a:bodyPr wrap="square" rtlCol="0" anchor="ctr"/>
          <a:lstStyle/>
          <a:p>
            <a:pPr indent="0" marL="0">
              <a:lnSpc>
                <a:spcPct val="130000"/>
              </a:lnSpc>
              <a:buNone/>
            </a:pPr>
            <a:r>
              <a:rPr lang="en-US" sz="1150" i="1" dirty="0">
                <a:solidFill>
                  <a:srgbClr val="0A5E5D"/>
                </a:solidFill>
                <a:latin typeface="Calibri" pitchFamily="34" charset="0"/>
                <a:ea typeface="Calibri" pitchFamily="34" charset="-122"/>
                <a:cs typeface="Calibri" pitchFamily="34" charset="-120"/>
              </a:rPr>
              <a:t>Carries into 6G’s massive-IoT (many-device) use cases.</a:t>
            </a:r>
            <a:endParaRPr lang="en-US" sz="1150" dirty="0"/>
          </a:p>
        </p:txBody>
      </p:sp>
      <p:sp>
        <p:nvSpPr>
          <p:cNvPr id="19" name="Shape 17"/>
          <p:cNvSpPr/>
          <p:nvPr/>
        </p:nvSpPr>
        <p:spPr>
          <a:xfrm>
            <a:off x="457200" y="3611880"/>
            <a:ext cx="11274552" cy="1097280"/>
          </a:xfrm>
          <a:prstGeom prst="rect">
            <a:avLst/>
          </a:prstGeom>
          <a:solidFill>
            <a:srgbClr val="F4F7FB"/>
          </a:solidFill>
          <a:ln w="6350">
            <a:solidFill>
              <a:srgbClr val="E5EAF1"/>
            </a:solidFill>
            <a:prstDash val="solid"/>
          </a:ln>
        </p:spPr>
      </p:sp>
      <p:sp>
        <p:nvSpPr>
          <p:cNvPr id="20" name="Text 18"/>
          <p:cNvSpPr/>
          <p:nvPr/>
        </p:nvSpPr>
        <p:spPr>
          <a:xfrm>
            <a:off x="594360" y="3611880"/>
            <a:ext cx="1417320" cy="1097280"/>
          </a:xfrm>
          <a:prstGeom prst="rect">
            <a:avLst/>
          </a:prstGeom>
          <a:noFill/>
          <a:ln/>
        </p:spPr>
        <p:txBody>
          <a:bodyPr wrap="square" rtlCol="0" anchor="ctr"/>
          <a:lstStyle/>
          <a:p>
            <a:pPr indent="0" marL="0">
              <a:buNone/>
            </a:pPr>
            <a:r>
              <a:rPr lang="en-US" sz="1600" b="1" dirty="0">
                <a:solidFill>
                  <a:srgbClr val="0E7C7B"/>
                </a:solidFill>
                <a:latin typeface="Trebuchet MS" pitchFamily="34" charset="0"/>
                <a:ea typeface="Trebuchet MS" pitchFamily="34" charset="-122"/>
                <a:cs typeface="Trebuchet MS" pitchFamily="34" charset="-120"/>
              </a:rPr>
              <a:t>CALASH</a:t>
            </a:r>
            <a:endParaRPr lang="en-US" sz="1600" dirty="0"/>
          </a:p>
        </p:txBody>
      </p:sp>
      <p:sp>
        <p:nvSpPr>
          <p:cNvPr id="21" name="Text 19"/>
          <p:cNvSpPr/>
          <p:nvPr/>
        </p:nvSpPr>
        <p:spPr>
          <a:xfrm>
            <a:off x="2286000" y="3703320"/>
            <a:ext cx="2697480" cy="914400"/>
          </a:xfrm>
          <a:prstGeom prst="rect">
            <a:avLst/>
          </a:prstGeom>
          <a:noFill/>
          <a:ln/>
        </p:spPr>
        <p:txBody>
          <a:bodyPr wrap="square" rtlCol="0" anchor="ctr"/>
          <a:lstStyle/>
          <a:p>
            <a:pPr indent="0" marL="0">
              <a:lnSpc>
                <a:spcPct val="130000"/>
              </a:lnSpc>
              <a:buNone/>
            </a:pPr>
            <a:r>
              <a:rPr lang="en-US" sz="1200" dirty="0">
                <a:solidFill>
                  <a:srgbClr val="0B2545"/>
                </a:solidFill>
                <a:latin typeface="Calibri" pitchFamily="34" charset="0"/>
                <a:ea typeface="Calibri" pitchFamily="34" charset="-122"/>
                <a:cs typeface="Calibri" pitchFamily="34" charset="-120"/>
              </a:rPr>
              <a:t>Bell AI Fabric edge sites &amp; Cloud RAN labs</a:t>
            </a:r>
            <a:endParaRPr lang="en-US" sz="1200" dirty="0"/>
          </a:p>
        </p:txBody>
      </p:sp>
      <p:sp>
        <p:nvSpPr>
          <p:cNvPr id="22" name="Text 20"/>
          <p:cNvSpPr/>
          <p:nvPr/>
        </p:nvSpPr>
        <p:spPr>
          <a:xfrm>
            <a:off x="5257800" y="3703320"/>
            <a:ext cx="3840480" cy="91440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Use real-time grid carbon data in routing decisions. Canadian provincial integration is the proposed pilot.</a:t>
            </a:r>
            <a:endParaRPr lang="en-US" sz="1200" dirty="0"/>
          </a:p>
        </p:txBody>
      </p:sp>
      <p:sp>
        <p:nvSpPr>
          <p:cNvPr id="23" name="Text 21"/>
          <p:cNvSpPr/>
          <p:nvPr/>
        </p:nvSpPr>
        <p:spPr>
          <a:xfrm>
            <a:off x="9372600" y="3703320"/>
            <a:ext cx="2221992" cy="914400"/>
          </a:xfrm>
          <a:prstGeom prst="rect">
            <a:avLst/>
          </a:prstGeom>
          <a:noFill/>
          <a:ln/>
        </p:spPr>
        <p:txBody>
          <a:bodyPr wrap="square" rtlCol="0" anchor="ctr"/>
          <a:lstStyle/>
          <a:p>
            <a:pPr indent="0" marL="0">
              <a:lnSpc>
                <a:spcPct val="130000"/>
              </a:lnSpc>
              <a:buNone/>
            </a:pPr>
            <a:r>
              <a:rPr lang="en-US" sz="1150" i="1" dirty="0">
                <a:solidFill>
                  <a:srgbClr val="0A5E5D"/>
                </a:solidFill>
                <a:latin typeface="Calibri" pitchFamily="34" charset="0"/>
                <a:ea typeface="Calibri" pitchFamily="34" charset="-122"/>
                <a:cs typeface="Calibri" pitchFamily="34" charset="-120"/>
              </a:rPr>
              <a:t>Carries into 6G energy and supply-chain reporting.</a:t>
            </a:r>
            <a:endParaRPr lang="en-US" sz="1150" dirty="0"/>
          </a:p>
        </p:txBody>
      </p:sp>
      <p:sp>
        <p:nvSpPr>
          <p:cNvPr id="24" name="Shape 22"/>
          <p:cNvSpPr/>
          <p:nvPr/>
        </p:nvSpPr>
        <p:spPr>
          <a:xfrm>
            <a:off x="457200" y="4709160"/>
            <a:ext cx="11274552" cy="1097280"/>
          </a:xfrm>
          <a:prstGeom prst="rect">
            <a:avLst/>
          </a:prstGeom>
          <a:solidFill>
            <a:srgbClr val="FFFFFF"/>
          </a:solidFill>
          <a:ln w="6350">
            <a:solidFill>
              <a:srgbClr val="E5EAF1"/>
            </a:solidFill>
            <a:prstDash val="solid"/>
          </a:ln>
        </p:spPr>
      </p:sp>
      <p:sp>
        <p:nvSpPr>
          <p:cNvPr id="25" name="Text 23"/>
          <p:cNvSpPr/>
          <p:nvPr/>
        </p:nvSpPr>
        <p:spPr>
          <a:xfrm>
            <a:off x="594360" y="4709160"/>
            <a:ext cx="1417320" cy="1097280"/>
          </a:xfrm>
          <a:prstGeom prst="rect">
            <a:avLst/>
          </a:prstGeom>
          <a:noFill/>
          <a:ln/>
        </p:spPr>
        <p:txBody>
          <a:bodyPr wrap="square" rtlCol="0" anchor="ctr"/>
          <a:lstStyle/>
          <a:p>
            <a:pPr indent="0" marL="0">
              <a:buNone/>
            </a:pPr>
            <a:r>
              <a:rPr lang="en-US" sz="1600" b="1" dirty="0">
                <a:solidFill>
                  <a:srgbClr val="0E7C7B"/>
                </a:solidFill>
                <a:latin typeface="Trebuchet MS" pitchFamily="34" charset="0"/>
                <a:ea typeface="Trebuchet MS" pitchFamily="34" charset="-122"/>
                <a:cs typeface="Trebuchet MS" pitchFamily="34" charset="-120"/>
              </a:rPr>
              <a:t>CASTER-ZT</a:t>
            </a:r>
            <a:endParaRPr lang="en-US" sz="1600" dirty="0"/>
          </a:p>
        </p:txBody>
      </p:sp>
      <p:sp>
        <p:nvSpPr>
          <p:cNvPr id="26" name="Text 24"/>
          <p:cNvSpPr/>
          <p:nvPr/>
        </p:nvSpPr>
        <p:spPr>
          <a:xfrm>
            <a:off x="2286000" y="4800600"/>
            <a:ext cx="2697480" cy="914400"/>
          </a:xfrm>
          <a:prstGeom prst="rect">
            <a:avLst/>
          </a:prstGeom>
          <a:noFill/>
          <a:ln/>
        </p:spPr>
        <p:txBody>
          <a:bodyPr wrap="square" rtlCol="0" anchor="ctr"/>
          <a:lstStyle/>
          <a:p>
            <a:pPr indent="0" marL="0">
              <a:lnSpc>
                <a:spcPct val="130000"/>
              </a:lnSpc>
              <a:buNone/>
            </a:pPr>
            <a:r>
              <a:rPr lang="en-US" sz="1200" dirty="0">
                <a:solidFill>
                  <a:srgbClr val="0B2545"/>
                </a:solidFill>
                <a:latin typeface="Calibri" pitchFamily="34" charset="0"/>
                <a:ea typeface="Calibri" pitchFamily="34" charset="-122"/>
                <a:cs typeface="Calibri" pitchFamily="34" charset="-120"/>
              </a:rPr>
              <a:t>Cloud / Open RAN sandbox with Nokia</a:t>
            </a:r>
            <a:endParaRPr lang="en-US" sz="1200" dirty="0"/>
          </a:p>
        </p:txBody>
      </p:sp>
      <p:sp>
        <p:nvSpPr>
          <p:cNvPr id="27" name="Text 25"/>
          <p:cNvSpPr/>
          <p:nvPr/>
        </p:nvSpPr>
        <p:spPr>
          <a:xfrm>
            <a:off x="5257800" y="4800600"/>
            <a:ext cx="3840480" cy="91440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Install the safety layer in a test radio controller. Inject attacker scenarios. Measure how fast and how cleanly it reacts.</a:t>
            </a:r>
            <a:endParaRPr lang="en-US" sz="1200" dirty="0"/>
          </a:p>
        </p:txBody>
      </p:sp>
      <p:sp>
        <p:nvSpPr>
          <p:cNvPr id="28" name="Text 26"/>
          <p:cNvSpPr/>
          <p:nvPr/>
        </p:nvSpPr>
        <p:spPr>
          <a:xfrm>
            <a:off x="9372600" y="4800600"/>
            <a:ext cx="2221992" cy="914400"/>
          </a:xfrm>
          <a:prstGeom prst="rect">
            <a:avLst/>
          </a:prstGeom>
          <a:noFill/>
          <a:ln/>
        </p:spPr>
        <p:txBody>
          <a:bodyPr wrap="square" rtlCol="0" anchor="ctr"/>
          <a:lstStyle/>
          <a:p>
            <a:pPr indent="0" marL="0">
              <a:lnSpc>
                <a:spcPct val="130000"/>
              </a:lnSpc>
              <a:buNone/>
            </a:pPr>
            <a:r>
              <a:rPr lang="en-US" sz="1150" i="1" dirty="0">
                <a:solidFill>
                  <a:srgbClr val="0A5E5D"/>
                </a:solidFill>
                <a:latin typeface="Calibri" pitchFamily="34" charset="0"/>
                <a:ea typeface="Calibri" pitchFamily="34" charset="-122"/>
                <a:cs typeface="Calibri" pitchFamily="34" charset="-120"/>
              </a:rPr>
              <a:t>Carries into 6G autonomous-recovery requirements.</a:t>
            </a:r>
            <a:endParaRPr lang="en-US" sz="1150" dirty="0"/>
          </a:p>
        </p:txBody>
      </p:sp>
      <p:sp>
        <p:nvSpPr>
          <p:cNvPr id="29" name="Text 27"/>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0"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1" name="Text 28"/>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Bell IoT modernization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Nokia–Bell Cloud/Open RAN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Bell AI Fabric</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HOW WE PROPOSE TO ENGAGE</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Start small. Prove value. Then scale.</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Shape 3"/>
          <p:cNvSpPr/>
          <p:nvPr/>
        </p:nvSpPr>
        <p:spPr>
          <a:xfrm>
            <a:off x="914400" y="3017520"/>
            <a:ext cx="10332720" cy="0"/>
          </a:xfrm>
          <a:prstGeom prst="line">
            <a:avLst/>
          </a:prstGeom>
          <a:noFill/>
          <a:ln w="25400">
            <a:solidFill>
              <a:srgbClr val="E5EAF1"/>
            </a:solidFill>
            <a:prstDash val="solid"/>
          </a:ln>
        </p:spPr>
      </p:sp>
      <p:sp>
        <p:nvSpPr>
          <p:cNvPr id="6" name="Shape 4"/>
          <p:cNvSpPr/>
          <p:nvPr/>
        </p:nvSpPr>
        <p:spPr>
          <a:xfrm>
            <a:off x="2435352" y="2816352"/>
            <a:ext cx="402336" cy="402336"/>
          </a:xfrm>
          <a:prstGeom prst="ellipse">
            <a:avLst/>
          </a:prstGeom>
          <a:solidFill>
            <a:srgbClr val="1B9AAA"/>
          </a:solidFill>
          <a:ln w="12700">
            <a:solidFill>
              <a:srgbClr val="1B9AAA"/>
            </a:solidFill>
            <a:prstDash val="solid"/>
          </a:ln>
        </p:spPr>
      </p:sp>
      <p:sp>
        <p:nvSpPr>
          <p:cNvPr id="7" name="Text 5"/>
          <p:cNvSpPr/>
          <p:nvPr/>
        </p:nvSpPr>
        <p:spPr>
          <a:xfrm>
            <a:off x="2435352" y="2816352"/>
            <a:ext cx="402336" cy="402336"/>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8" name="Text 6"/>
          <p:cNvSpPr/>
          <p:nvPr/>
        </p:nvSpPr>
        <p:spPr>
          <a:xfrm>
            <a:off x="1082040" y="2560320"/>
            <a:ext cx="3108960" cy="320040"/>
          </a:xfrm>
          <a:prstGeom prst="rect">
            <a:avLst/>
          </a:prstGeom>
          <a:noFill/>
          <a:ln/>
        </p:spPr>
        <p:txBody>
          <a:bodyPr wrap="square" rtlCol="0" anchor="ctr"/>
          <a:lstStyle/>
          <a:p>
            <a:pPr algn="ctr" indent="0" marL="0">
              <a:buNone/>
            </a:pPr>
            <a:r>
              <a:rPr lang="en-US" sz="1300" b="1" dirty="0">
                <a:solidFill>
                  <a:srgbClr val="0E7C7B"/>
                </a:solidFill>
                <a:latin typeface="Trebuchet MS" pitchFamily="34" charset="0"/>
                <a:ea typeface="Trebuchet MS" pitchFamily="34" charset="-122"/>
                <a:cs typeface="Trebuchet MS" pitchFamily="34" charset="-120"/>
              </a:rPr>
              <a:t>90 days</a:t>
            </a:r>
            <a:endParaRPr lang="en-US" sz="1300" dirty="0"/>
          </a:p>
        </p:txBody>
      </p:sp>
      <p:sp>
        <p:nvSpPr>
          <p:cNvPr id="9" name="Text 7"/>
          <p:cNvSpPr/>
          <p:nvPr/>
        </p:nvSpPr>
        <p:spPr>
          <a:xfrm>
            <a:off x="1082040" y="3337560"/>
            <a:ext cx="3108960" cy="411480"/>
          </a:xfrm>
          <a:prstGeom prst="rect">
            <a:avLst/>
          </a:prstGeom>
          <a:noFill/>
          <a:ln/>
        </p:spPr>
        <p:txBody>
          <a:bodyPr wrap="square" rtlCol="0" anchor="ctr"/>
          <a:lstStyle/>
          <a:p>
            <a:pPr algn="ctr" indent="0" marL="0">
              <a:buNone/>
            </a:pPr>
            <a:r>
              <a:rPr lang="en-US" sz="1700" b="1" dirty="0">
                <a:solidFill>
                  <a:srgbClr val="0B2545"/>
                </a:solidFill>
                <a:latin typeface="Trebuchet MS" pitchFamily="34" charset="0"/>
                <a:ea typeface="Trebuchet MS" pitchFamily="34" charset="-122"/>
                <a:cs typeface="Trebuchet MS" pitchFamily="34" charset="-120"/>
              </a:rPr>
              <a:t>Prove the science</a:t>
            </a:r>
            <a:endParaRPr lang="en-US" sz="1700" dirty="0"/>
          </a:p>
        </p:txBody>
      </p:sp>
      <p:sp>
        <p:nvSpPr>
          <p:cNvPr id="10" name="Text 8"/>
          <p:cNvSpPr/>
          <p:nvPr/>
        </p:nvSpPr>
        <p:spPr>
          <a:xfrm>
            <a:off x="990600" y="3794760"/>
            <a:ext cx="3291840" cy="960120"/>
          </a:xfrm>
          <a:prstGeom prst="rect">
            <a:avLst/>
          </a:prstGeom>
          <a:noFill/>
          <a:ln/>
        </p:spPr>
        <p:txBody>
          <a:bodyPr wrap="square" rtlCol="0" anchor="ctr"/>
          <a:lstStyle/>
          <a:p>
            <a:pPr algn="ctr" indent="0" marL="0">
              <a:lnSpc>
                <a:spcPct val="130000"/>
              </a:lnSpc>
              <a:buNone/>
            </a:pPr>
            <a:r>
              <a:rPr lang="en-US" sz="1200" dirty="0">
                <a:solidFill>
                  <a:srgbClr val="24314A"/>
                </a:solidFill>
                <a:latin typeface="Calibri" pitchFamily="34" charset="0"/>
                <a:ea typeface="Calibri" pitchFamily="34" charset="-122"/>
                <a:cs typeface="Calibri" pitchFamily="34" charset="-120"/>
              </a:rPr>
              <a:t>Independent code review, reproduce the results on hardware Bell trusts. Cost: small. Risk: low.</a:t>
            </a:r>
            <a:endParaRPr lang="en-US" sz="1200" dirty="0"/>
          </a:p>
        </p:txBody>
      </p:sp>
      <p:sp>
        <p:nvSpPr>
          <p:cNvPr id="11" name="Shape 9"/>
          <p:cNvSpPr/>
          <p:nvPr/>
        </p:nvSpPr>
        <p:spPr>
          <a:xfrm>
            <a:off x="1859280" y="4846320"/>
            <a:ext cx="1554480" cy="292608"/>
          </a:xfrm>
          <a:prstGeom prst="roundRect">
            <a:avLst>
              <a:gd name="adj" fmla="val 25000"/>
            </a:avLst>
          </a:prstGeom>
          <a:solidFill>
            <a:srgbClr val="DCEEEE"/>
          </a:solidFill>
          <a:ln w="12700">
            <a:solidFill>
              <a:srgbClr val="DCEEEE"/>
            </a:solidFill>
            <a:prstDash val="solid"/>
          </a:ln>
        </p:spPr>
      </p:sp>
      <p:sp>
        <p:nvSpPr>
          <p:cNvPr id="12" name="Text 10"/>
          <p:cNvSpPr/>
          <p:nvPr/>
        </p:nvSpPr>
        <p:spPr>
          <a:xfrm>
            <a:off x="1859280" y="4846320"/>
            <a:ext cx="1554480" cy="292608"/>
          </a:xfrm>
          <a:prstGeom prst="rect">
            <a:avLst/>
          </a:prstGeom>
          <a:noFill/>
          <a:ln/>
        </p:spPr>
        <p:txBody>
          <a:bodyPr wrap="square" rtlCol="0" anchor="ctr"/>
          <a:lstStyle/>
          <a:p>
            <a:pPr algn="ctr" indent="0" marL="0">
              <a:buNone/>
            </a:pPr>
            <a:r>
              <a:rPr lang="en-US" sz="1050" b="1" dirty="0">
                <a:solidFill>
                  <a:srgbClr val="0A5E5D"/>
                </a:solidFill>
                <a:latin typeface="Calibri" pitchFamily="34" charset="0"/>
                <a:ea typeface="Calibri" pitchFamily="34" charset="-122"/>
                <a:cs typeface="Calibri" pitchFamily="34" charset="-120"/>
              </a:rPr>
              <a:t>Small budget</a:t>
            </a:r>
            <a:endParaRPr lang="en-US" sz="1050" dirty="0"/>
          </a:p>
        </p:txBody>
      </p:sp>
      <p:sp>
        <p:nvSpPr>
          <p:cNvPr id="13" name="Shape 11"/>
          <p:cNvSpPr/>
          <p:nvPr/>
        </p:nvSpPr>
        <p:spPr>
          <a:xfrm>
            <a:off x="5879592" y="2816352"/>
            <a:ext cx="402336" cy="402336"/>
          </a:xfrm>
          <a:prstGeom prst="ellipse">
            <a:avLst/>
          </a:prstGeom>
          <a:solidFill>
            <a:srgbClr val="1B9AAA"/>
          </a:solidFill>
          <a:ln w="12700">
            <a:solidFill>
              <a:srgbClr val="1B9AAA"/>
            </a:solidFill>
            <a:prstDash val="solid"/>
          </a:ln>
        </p:spPr>
      </p:sp>
      <p:sp>
        <p:nvSpPr>
          <p:cNvPr id="14" name="Text 12"/>
          <p:cNvSpPr/>
          <p:nvPr/>
        </p:nvSpPr>
        <p:spPr>
          <a:xfrm>
            <a:off x="5879592" y="2816352"/>
            <a:ext cx="402336" cy="402336"/>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5" name="Text 13"/>
          <p:cNvSpPr/>
          <p:nvPr/>
        </p:nvSpPr>
        <p:spPr>
          <a:xfrm>
            <a:off x="4526280" y="2560320"/>
            <a:ext cx="3108960" cy="320040"/>
          </a:xfrm>
          <a:prstGeom prst="rect">
            <a:avLst/>
          </a:prstGeom>
          <a:noFill/>
          <a:ln/>
        </p:spPr>
        <p:txBody>
          <a:bodyPr wrap="square" rtlCol="0" anchor="ctr"/>
          <a:lstStyle/>
          <a:p>
            <a:pPr algn="ctr" indent="0" marL="0">
              <a:buNone/>
            </a:pPr>
            <a:r>
              <a:rPr lang="en-US" sz="1300" b="1" dirty="0">
                <a:solidFill>
                  <a:srgbClr val="0E7C7B"/>
                </a:solidFill>
                <a:latin typeface="Trebuchet MS" pitchFamily="34" charset="0"/>
                <a:ea typeface="Trebuchet MS" pitchFamily="34" charset="-122"/>
                <a:cs typeface="Trebuchet MS" pitchFamily="34" charset="-120"/>
              </a:rPr>
              <a:t>6 months</a:t>
            </a:r>
            <a:endParaRPr lang="en-US" sz="1300" dirty="0"/>
          </a:p>
        </p:txBody>
      </p:sp>
      <p:sp>
        <p:nvSpPr>
          <p:cNvPr id="16" name="Text 14"/>
          <p:cNvSpPr/>
          <p:nvPr/>
        </p:nvSpPr>
        <p:spPr>
          <a:xfrm>
            <a:off x="4526280" y="3337560"/>
            <a:ext cx="3108960" cy="411480"/>
          </a:xfrm>
          <a:prstGeom prst="rect">
            <a:avLst/>
          </a:prstGeom>
          <a:noFill/>
          <a:ln/>
        </p:spPr>
        <p:txBody>
          <a:bodyPr wrap="square" rtlCol="0" anchor="ctr"/>
          <a:lstStyle/>
          <a:p>
            <a:pPr algn="ctr" indent="0" marL="0">
              <a:buNone/>
            </a:pPr>
            <a:r>
              <a:rPr lang="en-US" sz="1700" b="1" dirty="0">
                <a:solidFill>
                  <a:srgbClr val="0B2545"/>
                </a:solidFill>
                <a:latin typeface="Trebuchet MS" pitchFamily="34" charset="0"/>
                <a:ea typeface="Trebuchet MS" pitchFamily="34" charset="-122"/>
                <a:cs typeface="Trebuchet MS" pitchFamily="34" charset="-120"/>
              </a:rPr>
              <a:t>One Bell pilot</a:t>
            </a:r>
            <a:endParaRPr lang="en-US" sz="1700" dirty="0"/>
          </a:p>
        </p:txBody>
      </p:sp>
      <p:sp>
        <p:nvSpPr>
          <p:cNvPr id="17" name="Text 15"/>
          <p:cNvSpPr/>
          <p:nvPr/>
        </p:nvSpPr>
        <p:spPr>
          <a:xfrm>
            <a:off x="4434840" y="3794760"/>
            <a:ext cx="3291840" cy="960120"/>
          </a:xfrm>
          <a:prstGeom prst="rect">
            <a:avLst/>
          </a:prstGeom>
          <a:noFill/>
          <a:ln/>
        </p:spPr>
        <p:txBody>
          <a:bodyPr wrap="square" rtlCol="0" anchor="ctr"/>
          <a:lstStyle/>
          <a:p>
            <a:pPr algn="ctr" indent="0" marL="0">
              <a:lnSpc>
                <a:spcPct val="130000"/>
              </a:lnSpc>
              <a:buNone/>
            </a:pPr>
            <a:r>
              <a:rPr lang="en-US" sz="1200" dirty="0">
                <a:solidFill>
                  <a:srgbClr val="24314A"/>
                </a:solidFill>
                <a:latin typeface="Calibri" pitchFamily="34" charset="0"/>
                <a:ea typeface="Calibri" pitchFamily="34" charset="-122"/>
                <a:cs typeface="Calibri" pitchFamily="34" charset="-120"/>
              </a:rPr>
              <a:t>Pick one of the three tools and one Bell scenario. Measure real KPIs against today’s baseline.</a:t>
            </a:r>
            <a:endParaRPr lang="en-US" sz="1200" dirty="0"/>
          </a:p>
        </p:txBody>
      </p:sp>
      <p:sp>
        <p:nvSpPr>
          <p:cNvPr id="18" name="Shape 16"/>
          <p:cNvSpPr/>
          <p:nvPr/>
        </p:nvSpPr>
        <p:spPr>
          <a:xfrm>
            <a:off x="5303520" y="4846320"/>
            <a:ext cx="1554480" cy="292608"/>
          </a:xfrm>
          <a:prstGeom prst="roundRect">
            <a:avLst>
              <a:gd name="adj" fmla="val 25000"/>
            </a:avLst>
          </a:prstGeom>
          <a:solidFill>
            <a:srgbClr val="DCEEEE"/>
          </a:solidFill>
          <a:ln w="12700">
            <a:solidFill>
              <a:srgbClr val="DCEEEE"/>
            </a:solidFill>
            <a:prstDash val="solid"/>
          </a:ln>
        </p:spPr>
      </p:sp>
      <p:sp>
        <p:nvSpPr>
          <p:cNvPr id="19" name="Text 17"/>
          <p:cNvSpPr/>
          <p:nvPr/>
        </p:nvSpPr>
        <p:spPr>
          <a:xfrm>
            <a:off x="5303520" y="4846320"/>
            <a:ext cx="1554480" cy="292608"/>
          </a:xfrm>
          <a:prstGeom prst="rect">
            <a:avLst/>
          </a:prstGeom>
          <a:noFill/>
          <a:ln/>
        </p:spPr>
        <p:txBody>
          <a:bodyPr wrap="square" rtlCol="0" anchor="ctr"/>
          <a:lstStyle/>
          <a:p>
            <a:pPr algn="ctr" indent="0" marL="0">
              <a:buNone/>
            </a:pPr>
            <a:r>
              <a:rPr lang="en-US" sz="1050" b="1" dirty="0">
                <a:solidFill>
                  <a:srgbClr val="0A5E5D"/>
                </a:solidFill>
                <a:latin typeface="Calibri" pitchFamily="34" charset="0"/>
                <a:ea typeface="Calibri" pitchFamily="34" charset="-122"/>
                <a:cs typeface="Calibri" pitchFamily="34" charset="-120"/>
              </a:rPr>
              <a:t>Bounded scope</a:t>
            </a:r>
            <a:endParaRPr lang="en-US" sz="1050" dirty="0"/>
          </a:p>
        </p:txBody>
      </p:sp>
      <p:sp>
        <p:nvSpPr>
          <p:cNvPr id="20" name="Shape 18"/>
          <p:cNvSpPr/>
          <p:nvPr/>
        </p:nvSpPr>
        <p:spPr>
          <a:xfrm>
            <a:off x="9323832" y="2816352"/>
            <a:ext cx="402336" cy="402336"/>
          </a:xfrm>
          <a:prstGeom prst="ellipse">
            <a:avLst/>
          </a:prstGeom>
          <a:solidFill>
            <a:srgbClr val="1B9AAA"/>
          </a:solidFill>
          <a:ln w="12700">
            <a:solidFill>
              <a:srgbClr val="1B9AAA"/>
            </a:solidFill>
            <a:prstDash val="solid"/>
          </a:ln>
        </p:spPr>
      </p:sp>
      <p:sp>
        <p:nvSpPr>
          <p:cNvPr id="21" name="Text 19"/>
          <p:cNvSpPr/>
          <p:nvPr/>
        </p:nvSpPr>
        <p:spPr>
          <a:xfrm>
            <a:off x="9323832" y="2816352"/>
            <a:ext cx="402336" cy="402336"/>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22" name="Text 20"/>
          <p:cNvSpPr/>
          <p:nvPr/>
        </p:nvSpPr>
        <p:spPr>
          <a:xfrm>
            <a:off x="7970520" y="2560320"/>
            <a:ext cx="3108960" cy="320040"/>
          </a:xfrm>
          <a:prstGeom prst="rect">
            <a:avLst/>
          </a:prstGeom>
          <a:noFill/>
          <a:ln/>
        </p:spPr>
        <p:txBody>
          <a:bodyPr wrap="square" rtlCol="0" anchor="ctr"/>
          <a:lstStyle/>
          <a:p>
            <a:pPr algn="ctr" indent="0" marL="0">
              <a:buNone/>
            </a:pPr>
            <a:r>
              <a:rPr lang="en-US" sz="1300" b="1" dirty="0">
                <a:solidFill>
                  <a:srgbClr val="0E7C7B"/>
                </a:solidFill>
                <a:latin typeface="Trebuchet MS" pitchFamily="34" charset="0"/>
                <a:ea typeface="Trebuchet MS" pitchFamily="34" charset="-122"/>
                <a:cs typeface="Trebuchet MS" pitchFamily="34" charset="-120"/>
              </a:rPr>
              <a:t>12–18 months</a:t>
            </a:r>
            <a:endParaRPr lang="en-US" sz="1300" dirty="0"/>
          </a:p>
        </p:txBody>
      </p:sp>
      <p:sp>
        <p:nvSpPr>
          <p:cNvPr id="23" name="Text 21"/>
          <p:cNvSpPr/>
          <p:nvPr/>
        </p:nvSpPr>
        <p:spPr>
          <a:xfrm>
            <a:off x="7970520" y="3337560"/>
            <a:ext cx="3108960" cy="411480"/>
          </a:xfrm>
          <a:prstGeom prst="rect">
            <a:avLst/>
          </a:prstGeom>
          <a:noFill/>
          <a:ln/>
        </p:spPr>
        <p:txBody>
          <a:bodyPr wrap="square" rtlCol="0" anchor="ctr"/>
          <a:lstStyle/>
          <a:p>
            <a:pPr algn="ctr" indent="0" marL="0">
              <a:buNone/>
            </a:pPr>
            <a:r>
              <a:rPr lang="en-US" sz="1700" b="1" dirty="0">
                <a:solidFill>
                  <a:srgbClr val="0B2545"/>
                </a:solidFill>
                <a:latin typeface="Trebuchet MS" pitchFamily="34" charset="0"/>
                <a:ea typeface="Trebuchet MS" pitchFamily="34" charset="-122"/>
                <a:cs typeface="Trebuchet MS" pitchFamily="34" charset="-120"/>
              </a:rPr>
              <a:t>Scale &amp; co-develop</a:t>
            </a:r>
            <a:endParaRPr lang="en-US" sz="1700" dirty="0"/>
          </a:p>
        </p:txBody>
      </p:sp>
      <p:sp>
        <p:nvSpPr>
          <p:cNvPr id="24" name="Text 22"/>
          <p:cNvSpPr/>
          <p:nvPr/>
        </p:nvSpPr>
        <p:spPr>
          <a:xfrm>
            <a:off x="7879080" y="3794760"/>
            <a:ext cx="3291840" cy="960120"/>
          </a:xfrm>
          <a:prstGeom prst="rect">
            <a:avLst/>
          </a:prstGeom>
          <a:noFill/>
          <a:ln/>
        </p:spPr>
        <p:txBody>
          <a:bodyPr wrap="square" rtlCol="0" anchor="ctr"/>
          <a:lstStyle/>
          <a:p>
            <a:pPr algn="ctr" indent="0" marL="0">
              <a:lnSpc>
                <a:spcPct val="130000"/>
              </a:lnSpc>
              <a:buNone/>
            </a:pPr>
            <a:r>
              <a:rPr lang="en-US" sz="1200" dirty="0">
                <a:solidFill>
                  <a:srgbClr val="24314A"/>
                </a:solidFill>
                <a:latin typeface="Calibri" pitchFamily="34" charset="0"/>
                <a:ea typeface="Calibri" pitchFamily="34" charset="-122"/>
                <a:cs typeface="Calibri" pitchFamily="34" charset="-120"/>
              </a:rPr>
              <a:t>Move what works into wider use. Map to Canadian cyber regulation, set IP and licensing terms.</a:t>
            </a:r>
            <a:endParaRPr lang="en-US" sz="1200" dirty="0"/>
          </a:p>
        </p:txBody>
      </p:sp>
      <p:sp>
        <p:nvSpPr>
          <p:cNvPr id="25" name="Shape 23"/>
          <p:cNvSpPr/>
          <p:nvPr/>
        </p:nvSpPr>
        <p:spPr>
          <a:xfrm>
            <a:off x="8747760" y="4846320"/>
            <a:ext cx="1554480" cy="292608"/>
          </a:xfrm>
          <a:prstGeom prst="roundRect">
            <a:avLst>
              <a:gd name="adj" fmla="val 25000"/>
            </a:avLst>
          </a:prstGeom>
          <a:solidFill>
            <a:srgbClr val="DCEEEE"/>
          </a:solidFill>
          <a:ln w="12700">
            <a:solidFill>
              <a:srgbClr val="DCEEEE"/>
            </a:solidFill>
            <a:prstDash val="solid"/>
          </a:ln>
        </p:spPr>
      </p:sp>
      <p:sp>
        <p:nvSpPr>
          <p:cNvPr id="26" name="Text 24"/>
          <p:cNvSpPr/>
          <p:nvPr/>
        </p:nvSpPr>
        <p:spPr>
          <a:xfrm>
            <a:off x="8747760" y="4846320"/>
            <a:ext cx="1554480" cy="292608"/>
          </a:xfrm>
          <a:prstGeom prst="rect">
            <a:avLst/>
          </a:prstGeom>
          <a:noFill/>
          <a:ln/>
        </p:spPr>
        <p:txBody>
          <a:bodyPr wrap="square" rtlCol="0" anchor="ctr"/>
          <a:lstStyle/>
          <a:p>
            <a:pPr algn="ctr" indent="0" marL="0">
              <a:buNone/>
            </a:pPr>
            <a:r>
              <a:rPr lang="en-US" sz="1050" b="1" dirty="0">
                <a:solidFill>
                  <a:srgbClr val="0A5E5D"/>
                </a:solidFill>
                <a:latin typeface="Calibri" pitchFamily="34" charset="0"/>
                <a:ea typeface="Calibri" pitchFamily="34" charset="-122"/>
                <a:cs typeface="Calibri" pitchFamily="34" charset="-120"/>
              </a:rPr>
              <a:t>Strategic commitment</a:t>
            </a:r>
            <a:endParaRPr lang="en-US" sz="1050" dirty="0"/>
          </a:p>
        </p:txBody>
      </p:sp>
      <p:sp>
        <p:nvSpPr>
          <p:cNvPr id="27" name="Shape 25"/>
          <p:cNvSpPr/>
          <p:nvPr/>
        </p:nvSpPr>
        <p:spPr>
          <a:xfrm>
            <a:off x="457200" y="5486400"/>
            <a:ext cx="11274552" cy="777240"/>
          </a:xfrm>
          <a:prstGeom prst="rect">
            <a:avLst/>
          </a:prstGeom>
          <a:solidFill>
            <a:srgbClr val="F4F7FB"/>
          </a:solidFill>
          <a:ln w="9525">
            <a:solidFill>
              <a:srgbClr val="E5EAF1"/>
            </a:solidFill>
            <a:prstDash val="solid"/>
          </a:ln>
        </p:spPr>
      </p:sp>
      <p:sp>
        <p:nvSpPr>
          <p:cNvPr id="28" name="Text 26"/>
          <p:cNvSpPr/>
          <p:nvPr/>
        </p:nvSpPr>
        <p:spPr>
          <a:xfrm>
            <a:off x="685800" y="5577840"/>
            <a:ext cx="10789920" cy="228600"/>
          </a:xfrm>
          <a:prstGeom prst="rect">
            <a:avLst/>
          </a:prstGeom>
          <a:noFill/>
          <a:ln/>
        </p:spPr>
        <p:txBody>
          <a:bodyPr wrap="square" rtlCol="0" anchor="ctr"/>
          <a:lstStyle/>
          <a:p>
            <a:pPr indent="0" marL="0">
              <a:buNone/>
            </a:pPr>
            <a:r>
              <a:rPr lang="en-US" sz="1000" b="1" spc="200" kern="0" dirty="0">
                <a:solidFill>
                  <a:srgbClr val="1B9AAA"/>
                </a:solidFill>
                <a:latin typeface="Trebuchet MS" pitchFamily="34" charset="0"/>
                <a:ea typeface="Trebuchet MS" pitchFamily="34" charset="-122"/>
                <a:cs typeface="Trebuchet MS" pitchFamily="34" charset="-120"/>
              </a:rPr>
              <a:t>AT EVERY STAGE BELL SEES:</a:t>
            </a:r>
            <a:endParaRPr lang="en-US" sz="1000" dirty="0"/>
          </a:p>
        </p:txBody>
      </p:sp>
      <p:sp>
        <p:nvSpPr>
          <p:cNvPr id="29" name="Text 27"/>
          <p:cNvSpPr/>
          <p:nvPr/>
        </p:nvSpPr>
        <p:spPr>
          <a:xfrm>
            <a:off x="685800" y="5806440"/>
            <a:ext cx="10789920" cy="411480"/>
          </a:xfrm>
          <a:prstGeom prst="rect">
            <a:avLst/>
          </a:prstGeom>
          <a:noFill/>
          <a:ln/>
        </p:spPr>
        <p:txBody>
          <a:bodyPr wrap="square" rtlCol="0" anchor="ctr"/>
          <a:lstStyle/>
          <a:p>
            <a:pPr indent="0" marL="0">
              <a:lnSpc>
                <a:spcPct val="130000"/>
              </a:lnSpc>
              <a:buNone/>
            </a:pPr>
            <a:r>
              <a:rPr lang="en-US" sz="1200" dirty="0">
                <a:solidFill>
                  <a:srgbClr val="24314A"/>
                </a:solidFill>
                <a:latin typeface="Calibri" pitchFamily="34" charset="0"/>
                <a:ea typeface="Calibri" pitchFamily="34" charset="-122"/>
                <a:cs typeface="Calibri" pitchFamily="34" charset="-120"/>
              </a:rPr>
              <a:t>Reproducible code  ·  measurements on real hardware  ·  side-by-side comparison to today’s tools  ·  clear path on IP and licensing</a:t>
            </a:r>
            <a:endParaRPr lang="en-US" sz="1200" dirty="0"/>
          </a:p>
        </p:txBody>
      </p:sp>
      <p:sp>
        <p:nvSpPr>
          <p:cNvPr id="30" name="Text 28"/>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1"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2" name="Text 29"/>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Nokia–Bell Cloud/Open RAN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O-RAN Alliance security update 2025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4552" cy="274320"/>
          </a:xfrm>
          <a:prstGeom prst="rect">
            <a:avLst/>
          </a:prstGeom>
          <a:noFill/>
          <a:ln/>
        </p:spPr>
        <p:txBody>
          <a:bodyPr wrap="square" rtlCol="0" anchor="ctr"/>
          <a:lstStyle/>
          <a:p>
            <a:pPr indent="0" marL="0">
              <a:buNone/>
            </a:pPr>
            <a:r>
              <a:rPr lang="en-US" sz="1100" b="1" spc="200" kern="0" dirty="0">
                <a:solidFill>
                  <a:srgbClr val="0E7C7B"/>
                </a:solidFill>
                <a:latin typeface="Trebuchet MS" pitchFamily="34" charset="0"/>
                <a:ea typeface="Trebuchet MS" pitchFamily="34" charset="-122"/>
                <a:cs typeface="Trebuchet MS" pitchFamily="34" charset="-120"/>
              </a:rPr>
              <a:t>THE ASK</a:t>
            </a:r>
            <a:endParaRPr lang="en-US" sz="1100" dirty="0"/>
          </a:p>
        </p:txBody>
      </p:sp>
      <p:sp>
        <p:nvSpPr>
          <p:cNvPr id="3" name="Text 1"/>
          <p:cNvSpPr/>
          <p:nvPr/>
        </p:nvSpPr>
        <p:spPr>
          <a:xfrm>
            <a:off x="457200" y="640080"/>
            <a:ext cx="11274552" cy="731520"/>
          </a:xfrm>
          <a:prstGeom prst="rect">
            <a:avLst/>
          </a:prstGeom>
          <a:noFill/>
          <a:ln/>
        </p:spPr>
        <p:txBody>
          <a:bodyPr wrap="square" rtlCol="0" anchor="ctr"/>
          <a:lstStyle/>
          <a:p>
            <a:pPr indent="0" marL="0">
              <a:buNone/>
            </a:pPr>
            <a:r>
              <a:rPr lang="en-US" sz="2600" b="1" dirty="0">
                <a:solidFill>
                  <a:srgbClr val="0B2545"/>
                </a:solidFill>
                <a:latin typeface="Trebuchet MS" pitchFamily="34" charset="0"/>
                <a:ea typeface="Trebuchet MS" pitchFamily="34" charset="-122"/>
                <a:cs typeface="Trebuchet MS" pitchFamily="34" charset="-120"/>
              </a:rPr>
              <a:t>One workshop. One use case. One quarter to prove practical value.</a:t>
            </a:r>
            <a:endParaRPr lang="en-US" sz="2600" dirty="0"/>
          </a:p>
        </p:txBody>
      </p:sp>
      <p:sp>
        <p:nvSpPr>
          <p:cNvPr id="4" name="Shape 2"/>
          <p:cNvSpPr/>
          <p:nvPr/>
        </p:nvSpPr>
        <p:spPr>
          <a:xfrm>
            <a:off x="457200" y="1417320"/>
            <a:ext cx="11274552" cy="0"/>
          </a:xfrm>
          <a:prstGeom prst="line">
            <a:avLst/>
          </a:prstGeom>
          <a:noFill/>
          <a:ln w="12700">
            <a:solidFill>
              <a:srgbClr val="E5EAF1"/>
            </a:solidFill>
            <a:prstDash val="solid"/>
          </a:ln>
        </p:spPr>
      </p:sp>
      <p:sp>
        <p:nvSpPr>
          <p:cNvPr id="5" name="Text 3"/>
          <p:cNvSpPr/>
          <p:nvPr/>
        </p:nvSpPr>
        <p:spPr>
          <a:xfrm>
            <a:off x="457200" y="1508760"/>
            <a:ext cx="11274552" cy="365760"/>
          </a:xfrm>
          <a:prstGeom prst="rect">
            <a:avLst/>
          </a:prstGeom>
          <a:noFill/>
          <a:ln/>
        </p:spPr>
        <p:txBody>
          <a:bodyPr wrap="square" rtlCol="0" anchor="ctr"/>
          <a:lstStyle/>
          <a:p>
            <a:pPr indent="0" marL="0">
              <a:buNone/>
            </a:pPr>
            <a:r>
              <a:rPr lang="en-US" sz="1350" i="1" dirty="0">
                <a:solidFill>
                  <a:srgbClr val="5A6478"/>
                </a:solidFill>
                <a:latin typeface="Calibri" pitchFamily="34" charset="0"/>
                <a:ea typeface="Calibri" pitchFamily="34" charset="-122"/>
                <a:cs typeface="Calibri" pitchFamily="34" charset="-120"/>
              </a:rPr>
              <a:t>Lead with the tool that closes the most visible gap first.</a:t>
            </a:r>
            <a:endParaRPr lang="en-US" sz="1350" dirty="0"/>
          </a:p>
        </p:txBody>
      </p:sp>
      <p:sp>
        <p:nvSpPr>
          <p:cNvPr id="6" name="Shape 4"/>
          <p:cNvSpPr/>
          <p:nvPr/>
        </p:nvSpPr>
        <p:spPr>
          <a:xfrm>
            <a:off x="457200" y="2103120"/>
            <a:ext cx="3605784" cy="3200400"/>
          </a:xfrm>
          <a:prstGeom prst="rect">
            <a:avLst/>
          </a:prstGeom>
          <a:solidFill>
            <a:srgbClr val="EEF3FA"/>
          </a:solidFill>
          <a:ln w="19050">
            <a:solidFill>
              <a:srgbClr val="1B9AAA"/>
            </a:solidFill>
            <a:prstDash val="solid"/>
          </a:ln>
        </p:spPr>
      </p:sp>
      <p:sp>
        <p:nvSpPr>
          <p:cNvPr id="7" name="Shape 5"/>
          <p:cNvSpPr/>
          <p:nvPr/>
        </p:nvSpPr>
        <p:spPr>
          <a:xfrm>
            <a:off x="457200" y="2103120"/>
            <a:ext cx="3605784" cy="73152"/>
          </a:xfrm>
          <a:prstGeom prst="rect">
            <a:avLst/>
          </a:prstGeom>
          <a:solidFill>
            <a:srgbClr val="1B9AAA"/>
          </a:solidFill>
          <a:ln w="12700">
            <a:solidFill>
              <a:srgbClr val="1B9AAA"/>
            </a:solidFill>
            <a:prstDash val="solid"/>
          </a:ln>
        </p:spPr>
      </p:sp>
      <p:sp>
        <p:nvSpPr>
          <p:cNvPr id="8" name="Text 6"/>
          <p:cNvSpPr/>
          <p:nvPr/>
        </p:nvSpPr>
        <p:spPr>
          <a:xfrm>
            <a:off x="685800" y="2331720"/>
            <a:ext cx="640080" cy="640080"/>
          </a:xfrm>
          <a:prstGeom prst="rect">
            <a:avLst/>
          </a:prstGeom>
          <a:noFill/>
          <a:ln/>
        </p:spPr>
        <p:txBody>
          <a:bodyPr wrap="square" rtlCol="0" anchor="ctr"/>
          <a:lstStyle/>
          <a:p>
            <a:pPr indent="0" marL="0">
              <a:buNone/>
            </a:pPr>
            <a:r>
              <a:rPr lang="en-US" sz="3200" b="1" dirty="0">
                <a:solidFill>
                  <a:srgbClr val="1B9AAA"/>
                </a:solidFill>
                <a:latin typeface="Trebuchet MS" pitchFamily="34" charset="0"/>
                <a:ea typeface="Trebuchet MS" pitchFamily="34" charset="-122"/>
                <a:cs typeface="Trebuchet MS" pitchFamily="34" charset="-120"/>
              </a:rPr>
              <a:t>1</a:t>
            </a:r>
            <a:endParaRPr lang="en-US" sz="3200" dirty="0"/>
          </a:p>
        </p:txBody>
      </p:sp>
      <p:sp>
        <p:nvSpPr>
          <p:cNvPr id="9" name="Text 7"/>
          <p:cNvSpPr/>
          <p:nvPr/>
        </p:nvSpPr>
        <p:spPr>
          <a:xfrm>
            <a:off x="1371600" y="2377440"/>
            <a:ext cx="2508504" cy="457200"/>
          </a:xfrm>
          <a:prstGeom prst="rect">
            <a:avLst/>
          </a:prstGeom>
          <a:noFill/>
          <a:ln/>
        </p:spPr>
        <p:txBody>
          <a:bodyPr wrap="square" rtlCol="0" anchor="ctr"/>
          <a:lstStyle/>
          <a:p>
            <a:pPr indent="0" marL="0">
              <a:buNone/>
            </a:pPr>
            <a:r>
              <a:rPr lang="en-US" sz="1700" b="1" dirty="0">
                <a:solidFill>
                  <a:srgbClr val="0B2545"/>
                </a:solidFill>
                <a:latin typeface="Trebuchet MS" pitchFamily="34" charset="0"/>
                <a:ea typeface="Trebuchet MS" pitchFamily="34" charset="-122"/>
                <a:cs typeface="Trebuchet MS" pitchFamily="34" charset="-120"/>
              </a:rPr>
              <a:t>CALASH first</a:t>
            </a:r>
            <a:endParaRPr lang="en-US" sz="1700" dirty="0"/>
          </a:p>
        </p:txBody>
      </p:sp>
      <p:sp>
        <p:nvSpPr>
          <p:cNvPr id="10" name="Text 8"/>
          <p:cNvSpPr/>
          <p:nvPr/>
        </p:nvSpPr>
        <p:spPr>
          <a:xfrm>
            <a:off x="1371600" y="2788920"/>
            <a:ext cx="2508504" cy="274320"/>
          </a:xfrm>
          <a:prstGeom prst="rect">
            <a:avLst/>
          </a:prstGeom>
          <a:noFill/>
          <a:ln/>
        </p:spPr>
        <p:txBody>
          <a:bodyPr wrap="square" rtlCol="0" anchor="ctr"/>
          <a:lstStyle/>
          <a:p>
            <a:pPr indent="0" marL="0">
              <a:buNone/>
            </a:pPr>
            <a:r>
              <a:rPr lang="en-US" sz="1000" b="1" spc="200" kern="0" dirty="0">
                <a:solidFill>
                  <a:srgbClr val="0E7C7B"/>
                </a:solidFill>
                <a:latin typeface="Trebuchet MS" pitchFamily="34" charset="0"/>
                <a:ea typeface="Trebuchet MS" pitchFamily="34" charset="-122"/>
                <a:cs typeface="Trebuchet MS" pitchFamily="34" charset="-120"/>
              </a:rPr>
              <a:t>CARBON &amp; ENERGY</a:t>
            </a:r>
            <a:endParaRPr lang="en-US" sz="1000" dirty="0"/>
          </a:p>
        </p:txBody>
      </p:sp>
      <p:sp>
        <p:nvSpPr>
          <p:cNvPr id="11" name="Text 9"/>
          <p:cNvSpPr/>
          <p:nvPr/>
        </p:nvSpPr>
        <p:spPr>
          <a:xfrm>
            <a:off x="685800" y="3291840"/>
            <a:ext cx="3148584" cy="155448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Closes Bell’s most visible reporting gap. Carbon-aware routing using real-time grid carbon data. Canadian provincial integration is the proposed pilot.</a:t>
            </a:r>
            <a:endParaRPr lang="en-US" sz="1250" dirty="0"/>
          </a:p>
        </p:txBody>
      </p:sp>
      <p:sp>
        <p:nvSpPr>
          <p:cNvPr id="12" name="Shape 10"/>
          <p:cNvSpPr/>
          <p:nvPr/>
        </p:nvSpPr>
        <p:spPr>
          <a:xfrm>
            <a:off x="685800" y="4846320"/>
            <a:ext cx="3148584" cy="0"/>
          </a:xfrm>
          <a:prstGeom prst="line">
            <a:avLst/>
          </a:prstGeom>
          <a:noFill/>
          <a:ln w="12700">
            <a:solidFill>
              <a:srgbClr val="E5EAF1"/>
            </a:solidFill>
            <a:prstDash val="solid"/>
          </a:ln>
        </p:spPr>
      </p:sp>
      <p:sp>
        <p:nvSpPr>
          <p:cNvPr id="13" name="Text 11"/>
          <p:cNvSpPr/>
          <p:nvPr/>
        </p:nvSpPr>
        <p:spPr>
          <a:xfrm>
            <a:off x="685800" y="4892040"/>
            <a:ext cx="3148584" cy="365760"/>
          </a:xfrm>
          <a:prstGeom prst="rect">
            <a:avLst/>
          </a:prstGeom>
          <a:noFill/>
          <a:ln/>
        </p:spPr>
        <p:txBody>
          <a:bodyPr wrap="square"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ESG  ·  Network operations  ·  Bell AI Fabric</a:t>
            </a:r>
            <a:endParaRPr lang="en-US" sz="1100" dirty="0"/>
          </a:p>
        </p:txBody>
      </p:sp>
      <p:sp>
        <p:nvSpPr>
          <p:cNvPr id="14" name="Shape 12"/>
          <p:cNvSpPr/>
          <p:nvPr/>
        </p:nvSpPr>
        <p:spPr>
          <a:xfrm>
            <a:off x="4291584" y="2103120"/>
            <a:ext cx="3605784" cy="3200400"/>
          </a:xfrm>
          <a:prstGeom prst="rect">
            <a:avLst/>
          </a:prstGeom>
          <a:solidFill>
            <a:srgbClr val="F4F7FB"/>
          </a:solidFill>
          <a:ln w="9525">
            <a:solidFill>
              <a:srgbClr val="E5EAF1"/>
            </a:solidFill>
            <a:prstDash val="solid"/>
          </a:ln>
        </p:spPr>
      </p:sp>
      <p:sp>
        <p:nvSpPr>
          <p:cNvPr id="15" name="Shape 13"/>
          <p:cNvSpPr/>
          <p:nvPr/>
        </p:nvSpPr>
        <p:spPr>
          <a:xfrm>
            <a:off x="4291584" y="2103120"/>
            <a:ext cx="3605784" cy="73152"/>
          </a:xfrm>
          <a:prstGeom prst="rect">
            <a:avLst/>
          </a:prstGeom>
          <a:solidFill>
            <a:srgbClr val="1B9AAA"/>
          </a:solidFill>
          <a:ln w="12700">
            <a:solidFill>
              <a:srgbClr val="1B9AAA"/>
            </a:solidFill>
            <a:prstDash val="solid"/>
          </a:ln>
        </p:spPr>
      </p:sp>
      <p:sp>
        <p:nvSpPr>
          <p:cNvPr id="16" name="Text 14"/>
          <p:cNvSpPr/>
          <p:nvPr/>
        </p:nvSpPr>
        <p:spPr>
          <a:xfrm>
            <a:off x="4520184" y="2331720"/>
            <a:ext cx="640080" cy="640080"/>
          </a:xfrm>
          <a:prstGeom prst="rect">
            <a:avLst/>
          </a:prstGeom>
          <a:noFill/>
          <a:ln/>
        </p:spPr>
        <p:txBody>
          <a:bodyPr wrap="square" rtlCol="0" anchor="ctr"/>
          <a:lstStyle/>
          <a:p>
            <a:pPr indent="0" marL="0">
              <a:buNone/>
            </a:pPr>
            <a:r>
              <a:rPr lang="en-US" sz="3200" b="1" dirty="0">
                <a:solidFill>
                  <a:srgbClr val="1B9AAA"/>
                </a:solidFill>
                <a:latin typeface="Trebuchet MS" pitchFamily="34" charset="0"/>
                <a:ea typeface="Trebuchet MS" pitchFamily="34" charset="-122"/>
                <a:cs typeface="Trebuchet MS" pitchFamily="34" charset="-120"/>
              </a:rPr>
              <a:t>2</a:t>
            </a:r>
            <a:endParaRPr lang="en-US" sz="3200" dirty="0"/>
          </a:p>
        </p:txBody>
      </p:sp>
      <p:sp>
        <p:nvSpPr>
          <p:cNvPr id="17" name="Text 15"/>
          <p:cNvSpPr/>
          <p:nvPr/>
        </p:nvSpPr>
        <p:spPr>
          <a:xfrm>
            <a:off x="5205984" y="2377440"/>
            <a:ext cx="2508504" cy="457200"/>
          </a:xfrm>
          <a:prstGeom prst="rect">
            <a:avLst/>
          </a:prstGeom>
          <a:noFill/>
          <a:ln/>
        </p:spPr>
        <p:txBody>
          <a:bodyPr wrap="square" rtlCol="0" anchor="ctr"/>
          <a:lstStyle/>
          <a:p>
            <a:pPr indent="0" marL="0">
              <a:buNone/>
            </a:pPr>
            <a:r>
              <a:rPr lang="en-US" sz="1700" b="1" dirty="0">
                <a:solidFill>
                  <a:srgbClr val="0B2545"/>
                </a:solidFill>
                <a:latin typeface="Trebuchet MS" pitchFamily="34" charset="0"/>
                <a:ea typeface="Trebuchet MS" pitchFamily="34" charset="-122"/>
                <a:cs typeface="Trebuchet MS" pitchFamily="34" charset="-120"/>
              </a:rPr>
              <a:t>CASTER-ZT next</a:t>
            </a:r>
            <a:endParaRPr lang="en-US" sz="1700" dirty="0"/>
          </a:p>
        </p:txBody>
      </p:sp>
      <p:sp>
        <p:nvSpPr>
          <p:cNvPr id="18" name="Text 16"/>
          <p:cNvSpPr/>
          <p:nvPr/>
        </p:nvSpPr>
        <p:spPr>
          <a:xfrm>
            <a:off x="5205984" y="2788920"/>
            <a:ext cx="2508504" cy="274320"/>
          </a:xfrm>
          <a:prstGeom prst="rect">
            <a:avLst/>
          </a:prstGeom>
          <a:noFill/>
          <a:ln/>
        </p:spPr>
        <p:txBody>
          <a:bodyPr wrap="square" rtlCol="0" anchor="ctr"/>
          <a:lstStyle/>
          <a:p>
            <a:pPr indent="0" marL="0">
              <a:buNone/>
            </a:pPr>
            <a:r>
              <a:rPr lang="en-US" sz="1000" b="1" spc="200" kern="0" dirty="0">
                <a:solidFill>
                  <a:srgbClr val="0E7C7B"/>
                </a:solidFill>
                <a:latin typeface="Trebuchet MS" pitchFamily="34" charset="0"/>
                <a:ea typeface="Trebuchet MS" pitchFamily="34" charset="-122"/>
                <a:cs typeface="Trebuchet MS" pitchFamily="34" charset="-120"/>
              </a:rPr>
              <a:t>AUTONOMY &amp; SAFETY</a:t>
            </a:r>
            <a:endParaRPr lang="en-US" sz="1000" dirty="0"/>
          </a:p>
        </p:txBody>
      </p:sp>
      <p:sp>
        <p:nvSpPr>
          <p:cNvPr id="19" name="Text 17"/>
          <p:cNvSpPr/>
          <p:nvPr/>
        </p:nvSpPr>
        <p:spPr>
          <a:xfrm>
            <a:off x="4520184" y="3291840"/>
            <a:ext cx="3148584" cy="155448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Safety layer for autonomous radio software. A 3–5 year strategic collaboration with Bell Cyber.</a:t>
            </a:r>
            <a:endParaRPr lang="en-US" sz="1250" dirty="0"/>
          </a:p>
        </p:txBody>
      </p:sp>
      <p:sp>
        <p:nvSpPr>
          <p:cNvPr id="20" name="Shape 18"/>
          <p:cNvSpPr/>
          <p:nvPr/>
        </p:nvSpPr>
        <p:spPr>
          <a:xfrm>
            <a:off x="4520184" y="4846320"/>
            <a:ext cx="3148584" cy="0"/>
          </a:xfrm>
          <a:prstGeom prst="line">
            <a:avLst/>
          </a:prstGeom>
          <a:noFill/>
          <a:ln w="12700">
            <a:solidFill>
              <a:srgbClr val="E5EAF1"/>
            </a:solidFill>
            <a:prstDash val="solid"/>
          </a:ln>
        </p:spPr>
      </p:sp>
      <p:sp>
        <p:nvSpPr>
          <p:cNvPr id="21" name="Text 19"/>
          <p:cNvSpPr/>
          <p:nvPr/>
        </p:nvSpPr>
        <p:spPr>
          <a:xfrm>
            <a:off x="4520184" y="4892040"/>
            <a:ext cx="3148584" cy="365760"/>
          </a:xfrm>
          <a:prstGeom prst="rect">
            <a:avLst/>
          </a:prstGeom>
          <a:noFill/>
          <a:ln/>
        </p:spPr>
        <p:txBody>
          <a:bodyPr wrap="square"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Bell Cyber  ·  Mobility  ·  Public Safety</a:t>
            </a:r>
            <a:endParaRPr lang="en-US" sz="1100" dirty="0"/>
          </a:p>
        </p:txBody>
      </p:sp>
      <p:sp>
        <p:nvSpPr>
          <p:cNvPr id="22" name="Shape 20"/>
          <p:cNvSpPr/>
          <p:nvPr/>
        </p:nvSpPr>
        <p:spPr>
          <a:xfrm>
            <a:off x="8125968" y="2103120"/>
            <a:ext cx="3605784" cy="3200400"/>
          </a:xfrm>
          <a:prstGeom prst="rect">
            <a:avLst/>
          </a:prstGeom>
          <a:solidFill>
            <a:srgbClr val="F4F7FB"/>
          </a:solidFill>
          <a:ln w="9525">
            <a:solidFill>
              <a:srgbClr val="E5EAF1"/>
            </a:solidFill>
            <a:prstDash val="solid"/>
          </a:ln>
        </p:spPr>
      </p:sp>
      <p:sp>
        <p:nvSpPr>
          <p:cNvPr id="23" name="Shape 21"/>
          <p:cNvSpPr/>
          <p:nvPr/>
        </p:nvSpPr>
        <p:spPr>
          <a:xfrm>
            <a:off x="8125968" y="2103120"/>
            <a:ext cx="3605784" cy="73152"/>
          </a:xfrm>
          <a:prstGeom prst="rect">
            <a:avLst/>
          </a:prstGeom>
          <a:solidFill>
            <a:srgbClr val="1B9AAA"/>
          </a:solidFill>
          <a:ln w="12700">
            <a:solidFill>
              <a:srgbClr val="1B9AAA"/>
            </a:solidFill>
            <a:prstDash val="solid"/>
          </a:ln>
        </p:spPr>
      </p:sp>
      <p:sp>
        <p:nvSpPr>
          <p:cNvPr id="24" name="Text 22"/>
          <p:cNvSpPr/>
          <p:nvPr/>
        </p:nvSpPr>
        <p:spPr>
          <a:xfrm>
            <a:off x="8354568" y="2331720"/>
            <a:ext cx="640080" cy="640080"/>
          </a:xfrm>
          <a:prstGeom prst="rect">
            <a:avLst/>
          </a:prstGeom>
          <a:noFill/>
          <a:ln/>
        </p:spPr>
        <p:txBody>
          <a:bodyPr wrap="square" rtlCol="0" anchor="ctr"/>
          <a:lstStyle/>
          <a:p>
            <a:pPr indent="0" marL="0">
              <a:buNone/>
            </a:pPr>
            <a:r>
              <a:rPr lang="en-US" sz="3200" b="1" dirty="0">
                <a:solidFill>
                  <a:srgbClr val="1B9AAA"/>
                </a:solidFill>
                <a:latin typeface="Trebuchet MS" pitchFamily="34" charset="0"/>
                <a:ea typeface="Trebuchet MS" pitchFamily="34" charset="-122"/>
                <a:cs typeface="Trebuchet MS" pitchFamily="34" charset="-120"/>
              </a:rPr>
              <a:t>3</a:t>
            </a:r>
            <a:endParaRPr lang="en-US" sz="3200" dirty="0"/>
          </a:p>
        </p:txBody>
      </p:sp>
      <p:sp>
        <p:nvSpPr>
          <p:cNvPr id="25" name="Text 23"/>
          <p:cNvSpPr/>
          <p:nvPr/>
        </p:nvSpPr>
        <p:spPr>
          <a:xfrm>
            <a:off x="9040368" y="2377440"/>
            <a:ext cx="2508504" cy="457200"/>
          </a:xfrm>
          <a:prstGeom prst="rect">
            <a:avLst/>
          </a:prstGeom>
          <a:noFill/>
          <a:ln/>
        </p:spPr>
        <p:txBody>
          <a:bodyPr wrap="square" rtlCol="0" anchor="ctr"/>
          <a:lstStyle/>
          <a:p>
            <a:pPr indent="0" marL="0">
              <a:buNone/>
            </a:pPr>
            <a:r>
              <a:rPr lang="en-US" sz="1700" b="1" dirty="0">
                <a:solidFill>
                  <a:srgbClr val="0B2545"/>
                </a:solidFill>
                <a:latin typeface="Trebuchet MS" pitchFamily="34" charset="0"/>
                <a:ea typeface="Trebuchet MS" pitchFamily="34" charset="-122"/>
                <a:cs typeface="Trebuchet MS" pitchFamily="34" charset="-120"/>
              </a:rPr>
              <a:t>GAPF third</a:t>
            </a:r>
            <a:endParaRPr lang="en-US" sz="1700" dirty="0"/>
          </a:p>
        </p:txBody>
      </p:sp>
      <p:sp>
        <p:nvSpPr>
          <p:cNvPr id="26" name="Text 24"/>
          <p:cNvSpPr/>
          <p:nvPr/>
        </p:nvSpPr>
        <p:spPr>
          <a:xfrm>
            <a:off x="9040368" y="2788920"/>
            <a:ext cx="2508504" cy="274320"/>
          </a:xfrm>
          <a:prstGeom prst="rect">
            <a:avLst/>
          </a:prstGeom>
          <a:noFill/>
          <a:ln/>
        </p:spPr>
        <p:txBody>
          <a:bodyPr wrap="square" rtlCol="0" anchor="ctr"/>
          <a:lstStyle/>
          <a:p>
            <a:pPr indent="0" marL="0">
              <a:buNone/>
            </a:pPr>
            <a:r>
              <a:rPr lang="en-US" sz="1000" b="1" spc="200" kern="0" dirty="0">
                <a:solidFill>
                  <a:srgbClr val="0E7C7B"/>
                </a:solidFill>
                <a:latin typeface="Trebuchet MS" pitchFamily="34" charset="0"/>
                <a:ea typeface="Trebuchet MS" pitchFamily="34" charset="-122"/>
                <a:cs typeface="Trebuchet MS" pitchFamily="34" charset="-120"/>
              </a:rPr>
              <a:t>RURAL &amp; IoT</a:t>
            </a:r>
            <a:endParaRPr lang="en-US" sz="1000" dirty="0"/>
          </a:p>
        </p:txBody>
      </p:sp>
      <p:sp>
        <p:nvSpPr>
          <p:cNvPr id="27" name="Text 25"/>
          <p:cNvSpPr/>
          <p:nvPr/>
        </p:nvSpPr>
        <p:spPr>
          <a:xfrm>
            <a:off x="8354568" y="3291840"/>
            <a:ext cx="3148584" cy="1554480"/>
          </a:xfrm>
          <a:prstGeom prst="rect">
            <a:avLst/>
          </a:prstGeom>
          <a:noFill/>
          <a:ln/>
        </p:spPr>
        <p:txBody>
          <a:bodyPr wrap="square" rtlCol="0" anchor="ctr"/>
          <a:lstStyle/>
          <a:p>
            <a:pPr indent="0" marL="0">
              <a:lnSpc>
                <a:spcPct val="130000"/>
              </a:lnSpc>
              <a:buNone/>
            </a:pPr>
            <a:r>
              <a:rPr lang="en-US" sz="1250" dirty="0">
                <a:solidFill>
                  <a:srgbClr val="24314A"/>
                </a:solidFill>
                <a:latin typeface="Calibri" pitchFamily="34" charset="0"/>
                <a:ea typeface="Calibri" pitchFamily="34" charset="-122"/>
                <a:cs typeface="Calibri" pitchFamily="34" charset="-120"/>
              </a:rPr>
              <a:t>Tiny on-device routing brain for low-power and rural sensor fleets. Strong fit if Bell IoT prioritises long-life devices.</a:t>
            </a:r>
            <a:endParaRPr lang="en-US" sz="1250" dirty="0"/>
          </a:p>
        </p:txBody>
      </p:sp>
      <p:sp>
        <p:nvSpPr>
          <p:cNvPr id="28" name="Shape 26"/>
          <p:cNvSpPr/>
          <p:nvPr/>
        </p:nvSpPr>
        <p:spPr>
          <a:xfrm>
            <a:off x="8354568" y="4846320"/>
            <a:ext cx="3148584" cy="0"/>
          </a:xfrm>
          <a:prstGeom prst="line">
            <a:avLst/>
          </a:prstGeom>
          <a:noFill/>
          <a:ln w="12700">
            <a:solidFill>
              <a:srgbClr val="E5EAF1"/>
            </a:solidFill>
            <a:prstDash val="solid"/>
          </a:ln>
        </p:spPr>
      </p:sp>
      <p:sp>
        <p:nvSpPr>
          <p:cNvPr id="29" name="Text 27"/>
          <p:cNvSpPr/>
          <p:nvPr/>
        </p:nvSpPr>
        <p:spPr>
          <a:xfrm>
            <a:off x="8354568" y="4892040"/>
            <a:ext cx="3148584" cy="365760"/>
          </a:xfrm>
          <a:prstGeom prst="rect">
            <a:avLst/>
          </a:prstGeom>
          <a:noFill/>
          <a:ln/>
        </p:spPr>
        <p:txBody>
          <a:bodyPr wrap="square"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Bell IoT  ·  Smart Core  ·  Public Safety</a:t>
            </a:r>
            <a:endParaRPr lang="en-US" sz="1100" dirty="0"/>
          </a:p>
        </p:txBody>
      </p:sp>
      <p:sp>
        <p:nvSpPr>
          <p:cNvPr id="30" name="Shape 28"/>
          <p:cNvSpPr/>
          <p:nvPr/>
        </p:nvSpPr>
        <p:spPr>
          <a:xfrm>
            <a:off x="457200" y="5532120"/>
            <a:ext cx="11274552" cy="731520"/>
          </a:xfrm>
          <a:prstGeom prst="rect">
            <a:avLst/>
          </a:prstGeom>
          <a:solidFill>
            <a:srgbClr val="0B2545"/>
          </a:solidFill>
          <a:ln w="12700">
            <a:solidFill>
              <a:srgbClr val="0B2545"/>
            </a:solidFill>
            <a:prstDash val="solid"/>
          </a:ln>
        </p:spPr>
      </p:sp>
      <p:sp>
        <p:nvSpPr>
          <p:cNvPr id="31" name="Text 29"/>
          <p:cNvSpPr/>
          <p:nvPr/>
        </p:nvSpPr>
        <p:spPr>
          <a:xfrm>
            <a:off x="640080" y="5532120"/>
            <a:ext cx="10881360" cy="731520"/>
          </a:xfrm>
          <a:prstGeom prst="rect">
            <a:avLst/>
          </a:prstGeom>
          <a:noFill/>
          <a:ln/>
        </p:spPr>
        <p:txBody>
          <a:bodyPr wrap="square"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We propose: one Bell–Polytechnique workshop. One Bell use case. One quarter to prove practical value.</a:t>
            </a:r>
            <a:endParaRPr lang="en-US" sz="1500" dirty="0"/>
          </a:p>
        </p:txBody>
      </p:sp>
      <p:sp>
        <p:nvSpPr>
          <p:cNvPr id="32" name="Text 30"/>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33" name="Image 0" descr="/home/user/workspace/Polytechnique_Montreal_Logo.jpg">    </p:cNvPr>
          <p:cNvPicPr>
            <a:picLocks noChangeAspect="1"/>
          </p:cNvPicPr>
          <p:nvPr/>
        </p:nvPicPr>
        <p:blipFill>
          <a:blip r:embed="rId1"/>
          <a:stretch>
            <a:fillRect/>
          </a:stretch>
        </p:blipFill>
        <p:spPr>
          <a:xfrm>
            <a:off x="11201400" y="6272784"/>
            <a:ext cx="502920" cy="329184"/>
          </a:xfrm>
          <a:prstGeom prst="rect">
            <a:avLst/>
          </a:prstGeom>
        </p:spPr>
      </p:pic>
      <p:sp>
        <p:nvSpPr>
          <p:cNvPr id="34" name="Text 31"/>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BCE 2024 Climate Action Report</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O-RAN Alliance security update 2025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0080"/>
            <a:ext cx="11274552" cy="274320"/>
          </a:xfrm>
          <a:prstGeom prst="rect">
            <a:avLst/>
          </a:prstGeom>
          <a:noFill/>
          <a:ln/>
        </p:spPr>
        <p:txBody>
          <a:bodyPr wrap="square" rtlCol="0" anchor="ctr"/>
          <a:lstStyle/>
          <a:p>
            <a:pPr indent="0" marL="0">
              <a:buNone/>
            </a:pPr>
            <a:r>
              <a:rPr lang="en-US" sz="1100" b="1" spc="300" kern="0" dirty="0">
                <a:solidFill>
                  <a:srgbClr val="1B9AAA"/>
                </a:solidFill>
                <a:latin typeface="Trebuchet MS" pitchFamily="34" charset="0"/>
                <a:ea typeface="Trebuchet MS" pitchFamily="34" charset="-122"/>
                <a:cs typeface="Trebuchet MS" pitchFamily="34" charset="-120"/>
              </a:rPr>
              <a:t>THE TAKEAWAY</a:t>
            </a:r>
            <a:endParaRPr lang="en-US" sz="1100" dirty="0"/>
          </a:p>
        </p:txBody>
      </p:sp>
      <p:sp>
        <p:nvSpPr>
          <p:cNvPr id="3" name="Text 1"/>
          <p:cNvSpPr/>
          <p:nvPr/>
        </p:nvSpPr>
        <p:spPr>
          <a:xfrm>
            <a:off x="457200" y="1280160"/>
            <a:ext cx="11274552" cy="2011680"/>
          </a:xfrm>
          <a:prstGeom prst="rect">
            <a:avLst/>
          </a:prstGeom>
          <a:noFill/>
          <a:ln/>
        </p:spPr>
        <p:txBody>
          <a:bodyPr wrap="square" rtlCol="0" anchor="ctr"/>
          <a:lstStyle/>
          <a:p>
            <a:pPr indent="0" marL="0">
              <a:lnSpc>
                <a:spcPct val="120000"/>
              </a:lnSpc>
              <a:buNone/>
            </a:pPr>
            <a:r>
              <a:rPr lang="en-US" sz="2800" b="1" dirty="0">
                <a:solidFill>
                  <a:srgbClr val="0B2545"/>
                </a:solidFill>
                <a:latin typeface="Trebuchet MS" pitchFamily="34" charset="0"/>
                <a:ea typeface="Trebuchet MS" pitchFamily="34" charset="-122"/>
                <a:cs typeface="Trebuchet MS" pitchFamily="34" charset="-120"/>
              </a:rPr>
              <a:t>Bell can lead Canadian 6G by proving secure,</a:t>
            </a:r>
            <a:endParaRPr lang="en-US" sz="2800" dirty="0"/>
          </a:p>
          <a:p>
            <a:pPr indent="0" marL="0">
              <a:lnSpc>
                <a:spcPct val="120000"/>
              </a:lnSpc>
              <a:buNone/>
            </a:pPr>
            <a:r>
              <a:rPr lang="en-US" sz="2800" b="1" dirty="0">
                <a:solidFill>
                  <a:srgbClr val="0B2545"/>
                </a:solidFill>
                <a:latin typeface="Trebuchet MS" pitchFamily="34" charset="0"/>
                <a:ea typeface="Trebuchet MS" pitchFamily="34" charset="-122"/>
                <a:cs typeface="Trebuchet MS" pitchFamily="34" charset="-120"/>
              </a:rPr>
              <a:t>carbon-aware autonomous networks — under Canadian constraints.</a:t>
            </a:r>
            <a:endParaRPr lang="en-US" sz="2800" dirty="0"/>
          </a:p>
        </p:txBody>
      </p:sp>
      <p:sp>
        <p:nvSpPr>
          <p:cNvPr id="4" name="Shape 2"/>
          <p:cNvSpPr/>
          <p:nvPr/>
        </p:nvSpPr>
        <p:spPr>
          <a:xfrm>
            <a:off x="457200" y="3611880"/>
            <a:ext cx="1097280" cy="0"/>
          </a:xfrm>
          <a:prstGeom prst="line">
            <a:avLst/>
          </a:prstGeom>
          <a:noFill/>
          <a:ln w="25400">
            <a:solidFill>
              <a:srgbClr val="1B9AAA"/>
            </a:solidFill>
            <a:prstDash val="solid"/>
          </a:ln>
        </p:spPr>
      </p:sp>
      <p:sp>
        <p:nvSpPr>
          <p:cNvPr id="5" name="Text 3"/>
          <p:cNvSpPr/>
          <p:nvPr/>
        </p:nvSpPr>
        <p:spPr>
          <a:xfrm>
            <a:off x="457200" y="3840480"/>
            <a:ext cx="11274552" cy="457200"/>
          </a:xfrm>
          <a:prstGeom prst="rect">
            <a:avLst/>
          </a:prstGeom>
          <a:noFill/>
          <a:ln/>
        </p:spPr>
        <p:txBody>
          <a:bodyPr wrap="square" rtlCol="0" anchor="ctr"/>
          <a:lstStyle/>
          <a:p>
            <a:pPr indent="0" marL="0">
              <a:buNone/>
            </a:pPr>
            <a:r>
              <a:rPr lang="en-US" sz="1500" i="1" dirty="0">
                <a:solidFill>
                  <a:srgbClr val="24314A"/>
                </a:solidFill>
                <a:latin typeface="Calibri" pitchFamily="34" charset="0"/>
                <a:ea typeface="Calibri" pitchFamily="34" charset="-122"/>
                <a:cs typeface="Calibri" pitchFamily="34" charset="-120"/>
              </a:rPr>
              <a:t>Three thesis contributions — GAPF, CALASH, CASTER-ZT — are ready to be tested against Bell’s real workloads.</a:t>
            </a:r>
            <a:endParaRPr lang="en-US" sz="1500" dirty="0"/>
          </a:p>
        </p:txBody>
      </p:sp>
      <p:sp>
        <p:nvSpPr>
          <p:cNvPr id="6" name="Shape 4"/>
          <p:cNvSpPr/>
          <p:nvPr/>
        </p:nvSpPr>
        <p:spPr>
          <a:xfrm>
            <a:off x="457200" y="5029200"/>
            <a:ext cx="11274552" cy="0"/>
          </a:xfrm>
          <a:prstGeom prst="line">
            <a:avLst/>
          </a:prstGeom>
          <a:noFill/>
          <a:ln w="12700">
            <a:solidFill>
              <a:srgbClr val="E5EAF1"/>
            </a:solidFill>
            <a:prstDash val="solid"/>
          </a:ln>
        </p:spPr>
      </p:sp>
      <p:sp>
        <p:nvSpPr>
          <p:cNvPr id="7" name="Text 5"/>
          <p:cNvSpPr/>
          <p:nvPr/>
        </p:nvSpPr>
        <p:spPr>
          <a:xfrm>
            <a:off x="457200" y="5257800"/>
            <a:ext cx="5486400" cy="548640"/>
          </a:xfrm>
          <a:prstGeom prst="rect">
            <a:avLst/>
          </a:prstGeom>
          <a:noFill/>
          <a:ln/>
        </p:spPr>
        <p:txBody>
          <a:bodyPr wrap="square" rtlCol="0" anchor="ctr"/>
          <a:lstStyle/>
          <a:p>
            <a:pPr indent="0" marL="0">
              <a:buNone/>
            </a:pPr>
            <a:r>
              <a:rPr lang="en-US" sz="2600" b="1" dirty="0">
                <a:solidFill>
                  <a:srgbClr val="0E7C7B"/>
                </a:solidFill>
                <a:latin typeface="Trebuchet MS" pitchFamily="34" charset="0"/>
                <a:ea typeface="Trebuchet MS" pitchFamily="34" charset="-122"/>
                <a:cs typeface="Trebuchet MS" pitchFamily="34" charset="-120"/>
              </a:rPr>
              <a:t>Thank you</a:t>
            </a:r>
            <a:endParaRPr lang="en-US" sz="2600" dirty="0"/>
          </a:p>
        </p:txBody>
      </p:sp>
      <p:sp>
        <p:nvSpPr>
          <p:cNvPr id="8" name="Text 6"/>
          <p:cNvSpPr/>
          <p:nvPr/>
        </p:nvSpPr>
        <p:spPr>
          <a:xfrm>
            <a:off x="457200" y="5852160"/>
            <a:ext cx="7315200" cy="274320"/>
          </a:xfrm>
          <a:prstGeom prst="rect">
            <a:avLst/>
          </a:prstGeom>
          <a:noFill/>
          <a:ln/>
        </p:spPr>
        <p:txBody>
          <a:bodyPr wrap="square" rtlCol="0" anchor="ctr"/>
          <a:lstStyle/>
          <a:p>
            <a:pPr indent="0" marL="0">
              <a:buNone/>
            </a:pPr>
            <a:r>
              <a:rPr lang="en-US" sz="1200" dirty="0">
                <a:solidFill>
                  <a:srgbClr val="5A6478"/>
                </a:solidFill>
                <a:latin typeface="Calibri" pitchFamily="34" charset="0"/>
                <a:ea typeface="Calibri" pitchFamily="34" charset="-122"/>
                <a:cs typeface="Calibri" pitchFamily="34" charset="-120"/>
              </a:rPr>
              <a:t>Georges Parfait Djimefo Kapen  ·  Polytechnique Montréal  ·  LARIM</a:t>
            </a:r>
            <a:endParaRPr lang="en-US" sz="1200" dirty="0"/>
          </a:p>
        </p:txBody>
      </p:sp>
      <p:sp>
        <p:nvSpPr>
          <p:cNvPr id="9" name="Text 7"/>
          <p:cNvSpPr/>
          <p:nvPr/>
        </p:nvSpPr>
        <p:spPr>
          <a:xfrm>
            <a:off x="457200" y="6126480"/>
            <a:ext cx="7315200" cy="274320"/>
          </a:xfrm>
          <a:prstGeom prst="rect">
            <a:avLst/>
          </a:prstGeom>
          <a:noFill/>
          <a:ln/>
        </p:spPr>
        <p:txBody>
          <a:bodyPr wrap="square" rtlCol="0" anchor="ctr"/>
          <a:lstStyle/>
          <a:p>
            <a:pPr indent="0" marL="0">
              <a:buNone/>
            </a:pPr>
            <a:r>
              <a:rPr lang="en-US" sz="1200" dirty="0">
                <a:solidFill>
                  <a:srgbClr val="5A6478"/>
                </a:solidFill>
                <a:latin typeface="Calibri" pitchFamily="34" charset="0"/>
                <a:ea typeface="Calibri" pitchFamily="34" charset="-122"/>
                <a:cs typeface="Calibri" pitchFamily="34" charset="-120"/>
              </a:rPr>
              <a:t>Directors: Prof. Ranwa Al-Mallah  ·  Prof. Samuel Pierre</a:t>
            </a:r>
            <a:endParaRPr lang="en-US" sz="1200" dirty="0"/>
          </a:p>
        </p:txBody>
      </p:sp>
      <p:pic>
        <p:nvPicPr>
          <p:cNvPr id="10" name="Image 0" descr="/home/user/workspace/Polytechnique_Montreal_Logo.jpg">    </p:cNvPr>
          <p:cNvPicPr>
            <a:picLocks noChangeAspect="1"/>
          </p:cNvPicPr>
          <p:nvPr/>
        </p:nvPicPr>
        <p:blipFill>
          <a:blip r:embed="rId1"/>
          <a:stretch>
            <a:fillRect/>
          </a:stretch>
        </p:blipFill>
        <p:spPr>
          <a:xfrm>
            <a:off x="8503920" y="5166360"/>
            <a:ext cx="1691640" cy="1124712"/>
          </a:xfrm>
          <a:prstGeom prst="rect">
            <a:avLst/>
          </a:prstGeom>
        </p:spPr>
      </p:pic>
      <p:pic>
        <p:nvPicPr>
          <p:cNvPr id="11" name="Image 1" descr="/home/user/workspace/Larim_logo.jpg">    </p:cNvPr>
          <p:cNvPicPr>
            <a:picLocks noChangeAspect="1"/>
          </p:cNvPicPr>
          <p:nvPr/>
        </p:nvPicPr>
        <p:blipFill>
          <a:blip r:embed="rId2"/>
          <a:stretch>
            <a:fillRect/>
          </a:stretch>
        </p:blipFill>
        <p:spPr>
          <a:xfrm>
            <a:off x="10378440" y="5440680"/>
            <a:ext cx="1325880" cy="694944"/>
          </a:xfrm>
          <a:prstGeom prst="rect">
            <a:avLst/>
          </a:prstGeom>
        </p:spPr>
      </p:pic>
      <p:sp>
        <p:nvSpPr>
          <p:cNvPr id="12" name="Text 8"/>
          <p:cNvSpPr/>
          <p:nvPr/>
        </p:nvSpPr>
        <p:spPr>
          <a:xfrm>
            <a:off x="457200" y="6291072"/>
            <a:ext cx="6400800" cy="201168"/>
          </a:xfrm>
          <a:prstGeom prst="rect">
            <a:avLst/>
          </a:prstGeom>
          <a:noFill/>
          <a:ln/>
        </p:spPr>
        <p:txBody>
          <a:bodyPr wrap="square" rtlCol="0" anchor="ctr"/>
          <a:lstStyle/>
          <a:p>
            <a:pPr indent="0" marL="0">
              <a:buNone/>
            </a:pPr>
            <a:r>
              <a:rPr lang="en-US" sz="800" dirty="0">
                <a:solidFill>
                  <a:srgbClr val="9AA3B2"/>
                </a:solidFill>
                <a:latin typeface="Calibri" pitchFamily="34" charset="0"/>
                <a:ea typeface="Calibri" pitchFamily="34" charset="-122"/>
                <a:cs typeface="Calibri" pitchFamily="34" charset="-120"/>
              </a:rPr>
              <a:t>Bell 6G Executive Briefing  ·  May 15, 2026</a:t>
            </a:r>
            <a:endParaRPr lang="en-US" sz="800" dirty="0"/>
          </a:p>
        </p:txBody>
      </p:sp>
      <p:pic>
        <p:nvPicPr>
          <p:cNvPr id="13" name="Image 2" descr="/home/user/workspace/Polytechnique_Montreal_Logo.jpg">    </p:cNvPr>
          <p:cNvPicPr>
            <a:picLocks noChangeAspect="1"/>
          </p:cNvPicPr>
          <p:nvPr/>
        </p:nvPicPr>
        <p:blipFill>
          <a:blip r:embed="rId3"/>
          <a:stretch>
            <a:fillRect/>
          </a:stretch>
        </p:blipFill>
        <p:spPr>
          <a:xfrm>
            <a:off x="11201400" y="6272784"/>
            <a:ext cx="502920" cy="329184"/>
          </a:xfrm>
          <a:prstGeom prst="rect">
            <a:avLst/>
          </a:prstGeom>
        </p:spPr>
      </p:pic>
      <p:sp>
        <p:nvSpPr>
          <p:cNvPr id="14" name="Text 9"/>
          <p:cNvSpPr/>
          <p:nvPr/>
        </p:nvSpPr>
        <p:spPr>
          <a:xfrm>
            <a:off x="457200" y="6473952"/>
            <a:ext cx="10424160" cy="201168"/>
          </a:xfrm>
          <a:prstGeom prst="rect">
            <a:avLst/>
          </a:prstGeom>
          <a:noFill/>
          <a:ln/>
        </p:spPr>
        <p:txBody>
          <a:bodyPr wrap="square" rtlCol="0" anchor="ctr"/>
          <a:lstStyle/>
          <a:p>
            <a:pPr indent="0" marL="0">
              <a:buNone/>
            </a:pPr>
            <a:r>
              <a:rPr lang="en-US" sz="800" dirty="0">
                <a:solidFill>
                  <a:srgbClr val="5A6478"/>
                </a:solidFill>
                <a:latin typeface="Calibri" pitchFamily="34" charset="0"/>
                <a:ea typeface="Calibri" pitchFamily="34" charset="-122"/>
                <a:cs typeface="Calibri" pitchFamily="34" charset="-120"/>
              </a:rPr>
              <a:t>Source: </a:t>
            </a:r>
            <a:pPr indent="0" marL="0">
              <a:buNone/>
            </a:pPr>
            <a:r>
              <a:rPr lang="en-US" sz="800" u="sng" dirty="0">
                <a:solidFill>
                  <a:srgbClr val="0E7C7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Bell 5G+ Advanced launch</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Ericsson–Bell AI-native link adaptation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Nokia–Bell Cloud/Open RAN</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BCE 2024 Climate Action Report</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O-RAN Alliance security update 2025</a:t>
            </a:r>
            <a:pPr indent="0" marL="0">
              <a:buNone/>
            </a:pPr>
            <a:r>
              <a:rPr lang="en-US" sz="800" dirty="0">
                <a:solidFill>
                  <a:srgbClr val="5A6478"/>
                </a:solidFill>
                <a:latin typeface="Calibri" pitchFamily="34" charset="0"/>
                <a:ea typeface="Calibri" pitchFamily="34" charset="-122"/>
                <a:cs typeface="Calibri" pitchFamily="34" charset="-120"/>
              </a:rPr>
              <a:t> · </a:t>
            </a:r>
            <a:pPr indent="0" marL="0">
              <a:buNone/>
            </a:pPr>
            <a:r>
              <a:rPr lang="en-US" sz="800" u="sng" dirty="0">
                <a:solidFill>
                  <a:srgbClr val="0E7C7B"/>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CRTC Indigenous connectivity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Bell 6G Practical: Lower Energy, Lower Carbon, Safer Autonomy</dc:title>
  <dc:subject>PptxGenJS Presentation</dc:subject>
  <dc:creator>Georges Parfait Djimefo Kapen</dc:creator>
  <cp:lastModifiedBy>Georges Parfait Djimefo Kapen</cp:lastModifiedBy>
  <cp:revision>1</cp:revision>
  <dcterms:created xsi:type="dcterms:W3CDTF">2026-05-14T15:44:37Z</dcterms:created>
  <dcterms:modified xsi:type="dcterms:W3CDTF">2026-05-14T15:44:37Z</dcterms:modified>
</cp:coreProperties>
</file>